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91" r:id="rId3"/>
    <p:sldId id="292" r:id="rId4"/>
    <p:sldId id="287" r:id="rId5"/>
    <p:sldId id="288" r:id="rId6"/>
    <p:sldId id="289" r:id="rId7"/>
    <p:sldId id="290" r:id="rId8"/>
    <p:sldId id="261" r:id="rId9"/>
    <p:sldId id="262" r:id="rId10"/>
    <p:sldId id="264" r:id="rId11"/>
    <p:sldId id="263" r:id="rId12"/>
    <p:sldId id="268" r:id="rId13"/>
    <p:sldId id="265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3" r:id="rId27"/>
    <p:sldId id="280" r:id="rId28"/>
    <p:sldId id="281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0984"/>
    <a:srgbClr val="FF2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4" autoAdjust="0"/>
    <p:restoredTop sz="92922" autoAdjust="0"/>
  </p:normalViewPr>
  <p:slideViewPr>
    <p:cSldViewPr>
      <p:cViewPr varScale="1">
        <p:scale>
          <a:sx n="81" d="100"/>
          <a:sy n="81" d="100"/>
        </p:scale>
        <p:origin x="143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145F6-3B7E-4C8B-8AC6-3502A3BF73A2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9AF75-73F8-4F43-B5AA-7906FDC72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 descr="수원대.png"/>
          <p:cNvPicPr>
            <a:picLocks noChangeAspect="1"/>
          </p:cNvPicPr>
          <p:nvPr userDrawn="1"/>
        </p:nvPicPr>
        <p:blipFill>
          <a:blip r:embed="rId13" cstate="print">
            <a:lum bright="30000" contrast="-70000"/>
          </a:blip>
          <a:stretch>
            <a:fillRect/>
          </a:stretch>
        </p:blipFill>
        <p:spPr>
          <a:xfrm>
            <a:off x="0" y="6237311"/>
            <a:ext cx="658886" cy="620689"/>
          </a:xfrm>
          <a:prstGeom prst="rect">
            <a:avLst/>
          </a:prstGeom>
          <a:noFill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수원대_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82903"/>
            <a:ext cx="9144000" cy="5729323"/>
          </a:xfrm>
          <a:prstGeom prst="rect">
            <a:avLst/>
          </a:prstGeom>
        </p:spPr>
      </p:pic>
      <p:sp>
        <p:nvSpPr>
          <p:cNvPr id="18" name="순서도: 연결자 17"/>
          <p:cNvSpPr/>
          <p:nvPr/>
        </p:nvSpPr>
        <p:spPr>
          <a:xfrm>
            <a:off x="899591" y="1028733"/>
            <a:ext cx="1248139" cy="1248139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 13"/>
          <p:cNvSpPr/>
          <p:nvPr/>
        </p:nvSpPr>
        <p:spPr>
          <a:xfrm>
            <a:off x="0" y="1988840"/>
            <a:ext cx="6372200" cy="165618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  <a:gd name="connsiteX0" fmla="*/ 0 w 6446735"/>
              <a:gd name="connsiteY0" fmla="*/ 1656184 h 1656184"/>
              <a:gd name="connsiteX1" fmla="*/ 0 w 6446735"/>
              <a:gd name="connsiteY1" fmla="*/ 0 h 1656184"/>
              <a:gd name="connsiteX2" fmla="*/ 6446735 w 6446735"/>
              <a:gd name="connsiteY2" fmla="*/ 0 h 1656184"/>
              <a:gd name="connsiteX3" fmla="*/ 5814138 w 6446735"/>
              <a:gd name="connsiteY3" fmla="*/ 1656184 h 1656184"/>
              <a:gd name="connsiteX4" fmla="*/ 0 w 6446735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46735" h="1656184">
                <a:moveTo>
                  <a:pt x="0" y="1656184"/>
                </a:moveTo>
                <a:lnTo>
                  <a:pt x="0" y="0"/>
                </a:lnTo>
                <a:lnTo>
                  <a:pt x="6446735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5004048" y="3717032"/>
            <a:ext cx="4139952" cy="936104"/>
          </a:xfrm>
          <a:custGeom>
            <a:avLst/>
            <a:gdLst>
              <a:gd name="connsiteX0" fmla="*/ 0 w 4320480"/>
              <a:gd name="connsiteY0" fmla="*/ 1656184 h 1656184"/>
              <a:gd name="connsiteX1" fmla="*/ 414046 w 4320480"/>
              <a:gd name="connsiteY1" fmla="*/ 0 h 1656184"/>
              <a:gd name="connsiteX2" fmla="*/ 4320480 w 4320480"/>
              <a:gd name="connsiteY2" fmla="*/ 0 h 1656184"/>
              <a:gd name="connsiteX3" fmla="*/ 3906434 w 4320480"/>
              <a:gd name="connsiteY3" fmla="*/ 1656184 h 1656184"/>
              <a:gd name="connsiteX4" fmla="*/ 0 w 4320480"/>
              <a:gd name="connsiteY4" fmla="*/ 1656184 h 1656184"/>
              <a:gd name="connsiteX0" fmla="*/ 0 w 3906434"/>
              <a:gd name="connsiteY0" fmla="*/ 1656184 h 1656184"/>
              <a:gd name="connsiteX1" fmla="*/ 414046 w 3906434"/>
              <a:gd name="connsiteY1" fmla="*/ 0 h 1656184"/>
              <a:gd name="connsiteX2" fmla="*/ 3419872 w 3906434"/>
              <a:gd name="connsiteY2" fmla="*/ 0 h 1656184"/>
              <a:gd name="connsiteX3" fmla="*/ 3906434 w 3906434"/>
              <a:gd name="connsiteY3" fmla="*/ 1656184 h 1656184"/>
              <a:gd name="connsiteX4" fmla="*/ 0 w 3906434"/>
              <a:gd name="connsiteY4" fmla="*/ 1656184 h 1656184"/>
              <a:gd name="connsiteX0" fmla="*/ 0 w 3419872"/>
              <a:gd name="connsiteY0" fmla="*/ 1656184 h 1656184"/>
              <a:gd name="connsiteX1" fmla="*/ 414046 w 3419872"/>
              <a:gd name="connsiteY1" fmla="*/ 0 h 1656184"/>
              <a:gd name="connsiteX2" fmla="*/ 3419872 w 3419872"/>
              <a:gd name="connsiteY2" fmla="*/ 0 h 1656184"/>
              <a:gd name="connsiteX3" fmla="*/ 3419872 w 3419872"/>
              <a:gd name="connsiteY3" fmla="*/ 1656184 h 1656184"/>
              <a:gd name="connsiteX4" fmla="*/ 0 w 3419872"/>
              <a:gd name="connsiteY4" fmla="*/ 1656184 h 1656184"/>
              <a:gd name="connsiteX0" fmla="*/ 0 w 3347864"/>
              <a:gd name="connsiteY0" fmla="*/ 1656184 h 1656184"/>
              <a:gd name="connsiteX1" fmla="*/ 342038 w 3347864"/>
              <a:gd name="connsiteY1" fmla="*/ 0 h 1656184"/>
              <a:gd name="connsiteX2" fmla="*/ 3347864 w 3347864"/>
              <a:gd name="connsiteY2" fmla="*/ 0 h 1656184"/>
              <a:gd name="connsiteX3" fmla="*/ 3347864 w 3347864"/>
              <a:gd name="connsiteY3" fmla="*/ 1656184 h 1656184"/>
              <a:gd name="connsiteX4" fmla="*/ 0 w 3347864"/>
              <a:gd name="connsiteY4" fmla="*/ 1656184 h 1656184"/>
              <a:gd name="connsiteX0" fmla="*/ 0 w 3275856"/>
              <a:gd name="connsiteY0" fmla="*/ 1656184 h 1656184"/>
              <a:gd name="connsiteX1" fmla="*/ 270030 w 3275856"/>
              <a:gd name="connsiteY1" fmla="*/ 0 h 1656184"/>
              <a:gd name="connsiteX2" fmla="*/ 3275856 w 3275856"/>
              <a:gd name="connsiteY2" fmla="*/ 0 h 1656184"/>
              <a:gd name="connsiteX3" fmla="*/ 3275856 w 3275856"/>
              <a:gd name="connsiteY3" fmla="*/ 1656184 h 1656184"/>
              <a:gd name="connsiteX4" fmla="*/ 0 w 3275856"/>
              <a:gd name="connsiteY4" fmla="*/ 1656184 h 1656184"/>
              <a:gd name="connsiteX0" fmla="*/ 0 w 3347864"/>
              <a:gd name="connsiteY0" fmla="*/ 1656184 h 1656184"/>
              <a:gd name="connsiteX1" fmla="*/ 342038 w 3347864"/>
              <a:gd name="connsiteY1" fmla="*/ 0 h 1656184"/>
              <a:gd name="connsiteX2" fmla="*/ 3347864 w 3347864"/>
              <a:gd name="connsiteY2" fmla="*/ 0 h 1656184"/>
              <a:gd name="connsiteX3" fmla="*/ 3347864 w 3347864"/>
              <a:gd name="connsiteY3" fmla="*/ 1656184 h 1656184"/>
              <a:gd name="connsiteX4" fmla="*/ 0 w 3347864"/>
              <a:gd name="connsiteY4" fmla="*/ 1656184 h 1656184"/>
              <a:gd name="connsiteX0" fmla="*/ 0 w 3203848"/>
              <a:gd name="connsiteY0" fmla="*/ 1656184 h 1656184"/>
              <a:gd name="connsiteX1" fmla="*/ 198022 w 3203848"/>
              <a:gd name="connsiteY1" fmla="*/ 0 h 1656184"/>
              <a:gd name="connsiteX2" fmla="*/ 3203848 w 3203848"/>
              <a:gd name="connsiteY2" fmla="*/ 0 h 1656184"/>
              <a:gd name="connsiteX3" fmla="*/ 3203848 w 3203848"/>
              <a:gd name="connsiteY3" fmla="*/ 1656184 h 1656184"/>
              <a:gd name="connsiteX4" fmla="*/ 0 w 3203848"/>
              <a:gd name="connsiteY4" fmla="*/ 1656184 h 1656184"/>
              <a:gd name="connsiteX0" fmla="*/ 0 w 3203848"/>
              <a:gd name="connsiteY0" fmla="*/ 1656184 h 1656184"/>
              <a:gd name="connsiteX1" fmla="*/ 344552 w 3203848"/>
              <a:gd name="connsiteY1" fmla="*/ 0 h 1656184"/>
              <a:gd name="connsiteX2" fmla="*/ 3203848 w 3203848"/>
              <a:gd name="connsiteY2" fmla="*/ 0 h 1656184"/>
              <a:gd name="connsiteX3" fmla="*/ 3203848 w 3203848"/>
              <a:gd name="connsiteY3" fmla="*/ 1656184 h 1656184"/>
              <a:gd name="connsiteX4" fmla="*/ 0 w 3203848"/>
              <a:gd name="connsiteY4" fmla="*/ 1656184 h 1656184"/>
              <a:gd name="connsiteX0" fmla="*/ 0 w 3203848"/>
              <a:gd name="connsiteY0" fmla="*/ 1656184 h 1656184"/>
              <a:gd name="connsiteX1" fmla="*/ 275642 w 3203848"/>
              <a:gd name="connsiteY1" fmla="*/ 0 h 1656184"/>
              <a:gd name="connsiteX2" fmla="*/ 3203848 w 3203848"/>
              <a:gd name="connsiteY2" fmla="*/ 0 h 1656184"/>
              <a:gd name="connsiteX3" fmla="*/ 3203848 w 3203848"/>
              <a:gd name="connsiteY3" fmla="*/ 1656184 h 1656184"/>
              <a:gd name="connsiteX4" fmla="*/ 0 w 3203848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3848" h="1656184">
                <a:moveTo>
                  <a:pt x="0" y="1656184"/>
                </a:moveTo>
                <a:lnTo>
                  <a:pt x="275642" y="0"/>
                </a:lnTo>
                <a:lnTo>
                  <a:pt x="3203848" y="0"/>
                </a:lnTo>
                <a:lnTo>
                  <a:pt x="320384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200" b="1" dirty="0"/>
              <a:t>3ds MAX </a:t>
            </a:r>
            <a:r>
              <a:rPr lang="ko-KR" altLang="en-US" sz="3200" b="1" dirty="0"/>
              <a:t>기초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62" y="2383103"/>
            <a:ext cx="509325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ln w="12700">
                  <a:noFill/>
                  <a:prstDash val="solid"/>
                </a:ln>
              </a:rPr>
              <a:t>2020 LOA </a:t>
            </a:r>
            <a:r>
              <a:rPr lang="ko-KR" altLang="en-US" sz="4800" b="1" dirty="0">
                <a:ln w="12700">
                  <a:noFill/>
                  <a:prstDash val="solid"/>
                </a:ln>
              </a:rPr>
              <a:t>모델링</a:t>
            </a:r>
            <a:endParaRPr lang="en-US" altLang="ko-KR" sz="4800" b="1" dirty="0">
              <a:ln w="12700">
                <a:noFill/>
                <a:prstDash val="solid"/>
              </a:ln>
            </a:endParaRPr>
          </a:p>
          <a:p>
            <a:r>
              <a:rPr lang="en-US" altLang="ko-KR" sz="2000" b="1" dirty="0"/>
              <a:t>3ds Max Ver.2014</a:t>
            </a:r>
            <a:endParaRPr lang="ko-KR" altLang="en-US" sz="2000" b="1" dirty="0">
              <a:ln w="12700">
                <a:noFill/>
                <a:prstDash val="solid"/>
              </a:ln>
            </a:endParaRPr>
          </a:p>
        </p:txBody>
      </p:sp>
      <p:sp>
        <p:nvSpPr>
          <p:cNvPr id="19" name="순서도: 연결자 18"/>
          <p:cNvSpPr/>
          <p:nvPr/>
        </p:nvSpPr>
        <p:spPr>
          <a:xfrm>
            <a:off x="2195736" y="692696"/>
            <a:ext cx="576064" cy="576064"/>
          </a:xfrm>
          <a:prstGeom prst="flowChartConnector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3528" y="1383928"/>
            <a:ext cx="2272738" cy="4101277"/>
            <a:chOff x="1074222" y="3049620"/>
            <a:chExt cx="1828007" cy="2680219"/>
          </a:xfrm>
        </p:grpSpPr>
        <p:sp>
          <p:nvSpPr>
            <p:cNvPr id="11" name="TextBox 6">
              <a:hlinkClick r:id="rId2" action="ppaction://hlinksldjump"/>
            </p:cNvPr>
            <p:cNvSpPr txBox="1"/>
            <p:nvPr/>
          </p:nvSpPr>
          <p:spPr>
            <a:xfrm>
              <a:off x="1591629" y="3049620"/>
              <a:ext cx="793193" cy="6034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5400" b="1" u="sng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latin typeface="+mn-ea"/>
                </a:rPr>
                <a:t>01</a:t>
              </a:r>
              <a:endParaRPr lang="ko-KR" altLang="en-US" sz="5400" b="1" u="sng" dirty="0">
                <a:ln>
                  <a:solidFill>
                    <a:srgbClr val="F1E327">
                      <a:alpha val="1000"/>
                    </a:srgbClr>
                  </a:solidFill>
                </a:ln>
                <a:latin typeface="+mn-ea"/>
              </a:endParaRPr>
            </a:p>
          </p:txBody>
        </p:sp>
        <p:sp>
          <p:nvSpPr>
            <p:cNvPr id="12" name="TextBox 7"/>
            <p:cNvSpPr txBox="1"/>
            <p:nvPr/>
          </p:nvSpPr>
          <p:spPr>
            <a:xfrm>
              <a:off x="1074222" y="3819061"/>
              <a:ext cx="1828007" cy="1910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40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기본화면</a:t>
              </a:r>
              <a:endParaRPr lang="en-US" altLang="ko-KR" sz="40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endParaRPr lang="en-US" altLang="ko-KR" sz="36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endParaRPr lang="en-US" altLang="ko-KR" sz="36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r>
                <a:rPr lang="en-US" altLang="ko-KR" sz="36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· View</a:t>
              </a:r>
            </a:p>
            <a:p>
              <a:r>
                <a:rPr lang="en-US" altLang="ko-KR" sz="36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· Object</a:t>
              </a:r>
              <a:endParaRPr lang="ko-KR" altLang="en-US" sz="36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2934227" y="1379621"/>
            <a:ext cx="3316036" cy="5455491"/>
            <a:chOff x="654647" y="3049620"/>
            <a:chExt cx="2667155" cy="3565213"/>
          </a:xfrm>
        </p:grpSpPr>
        <p:sp>
          <p:nvSpPr>
            <p:cNvPr id="9" name="TextBox 9">
              <a:hlinkClick r:id="rId2" action="ppaction://hlinksldjump"/>
            </p:cNvPr>
            <p:cNvSpPr txBox="1"/>
            <p:nvPr/>
          </p:nvSpPr>
          <p:spPr>
            <a:xfrm>
              <a:off x="1591631" y="3049620"/>
              <a:ext cx="793194" cy="6034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5400" b="1" u="sng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latin typeface="+mn-ea"/>
                </a:rPr>
                <a:t>02</a:t>
              </a:r>
              <a:endParaRPr lang="ko-KR" altLang="en-US" sz="5400" b="1" u="sng" dirty="0">
                <a:ln>
                  <a:solidFill>
                    <a:srgbClr val="F1E327">
                      <a:alpha val="1000"/>
                    </a:srgbClr>
                  </a:solidFill>
                </a:ln>
                <a:latin typeface="+mn-ea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4647" y="3819060"/>
              <a:ext cx="2667155" cy="2795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40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오브젝트</a:t>
              </a:r>
              <a:endParaRPr lang="en-US" altLang="ko-KR" sz="40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pPr algn="ctr"/>
              <a:r>
                <a:rPr lang="ko-KR" altLang="en-US" sz="40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편집</a:t>
              </a:r>
              <a:endParaRPr lang="en-US" altLang="ko-KR" sz="40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endParaRPr lang="en-US" altLang="ko-KR" sz="36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r>
                <a:rPr lang="en-US" altLang="ko-KR" sz="36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· Editable Poly</a:t>
              </a:r>
            </a:p>
            <a:p>
              <a:r>
                <a:rPr lang="en-US" altLang="ko-KR" sz="30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 - Vertex</a:t>
              </a:r>
            </a:p>
            <a:p>
              <a:r>
                <a:rPr lang="en-US" altLang="ko-KR" sz="30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 - Edge</a:t>
              </a:r>
            </a:p>
            <a:p>
              <a:r>
                <a:rPr lang="en-US" altLang="ko-KR" sz="30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 - Border</a:t>
              </a:r>
            </a:p>
            <a:p>
              <a:r>
                <a:rPr lang="en-US" altLang="ko-KR" sz="30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 - Polygon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6588224" y="1377103"/>
            <a:ext cx="2252541" cy="3547277"/>
            <a:chOff x="1082340" y="3049620"/>
            <a:chExt cx="1811764" cy="2318178"/>
          </a:xfrm>
        </p:grpSpPr>
        <p:sp>
          <p:nvSpPr>
            <p:cNvPr id="7" name="TextBox 11">
              <a:hlinkClick r:id="rId2" action="ppaction://hlinksldjump"/>
            </p:cNvPr>
            <p:cNvSpPr txBox="1"/>
            <p:nvPr/>
          </p:nvSpPr>
          <p:spPr>
            <a:xfrm>
              <a:off x="1591631" y="3049620"/>
              <a:ext cx="793194" cy="6034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5400" b="1" u="sng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latin typeface="+mn-ea"/>
                </a:rPr>
                <a:t>03</a:t>
              </a:r>
              <a:endParaRPr lang="ko-KR" altLang="en-US" sz="5400" b="1" u="sng" dirty="0">
                <a:ln>
                  <a:solidFill>
                    <a:srgbClr val="F1E327">
                      <a:alpha val="1000"/>
                    </a:srgbClr>
                  </a:solidFill>
                </a:ln>
                <a:latin typeface="+mn-ea"/>
              </a:endParaRPr>
            </a:p>
          </p:txBody>
        </p:sp>
        <p:sp>
          <p:nvSpPr>
            <p:cNvPr id="8" name="TextBox 12"/>
            <p:cNvSpPr txBox="1"/>
            <p:nvPr/>
          </p:nvSpPr>
          <p:spPr>
            <a:xfrm>
              <a:off x="1082340" y="3819060"/>
              <a:ext cx="1811764" cy="15487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40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실습예제</a:t>
              </a:r>
              <a:endParaRPr lang="en-US" altLang="ko-KR" sz="40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endParaRPr lang="en-US" altLang="ko-KR" sz="36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endParaRPr lang="en-US" altLang="ko-KR" sz="3600" b="1" dirty="0">
                <a:ln>
                  <a:solidFill>
                    <a:srgbClr val="F1E327">
                      <a:alpha val="1000"/>
                    </a:srgb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  <a:p>
              <a:r>
                <a:rPr lang="en-US" altLang="ko-KR" sz="3600" b="1" dirty="0">
                  <a:ln>
                    <a:solidFill>
                      <a:srgbClr val="F1E327">
                        <a:alpha val="1000"/>
                      </a:srgb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· Monitor</a:t>
              </a:r>
            </a:p>
          </p:txBody>
        </p:sp>
      </p:grpSp>
      <p:sp>
        <p:nvSpPr>
          <p:cNvPr id="13" name="자유형 12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just"/>
            <a:r>
              <a:rPr lang="en-US" altLang="ko-KR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ea"/>
              </a:rPr>
              <a:t>                 INDEX</a:t>
            </a:r>
            <a:endParaRPr lang="ko-KR" altLang="en-US" sz="4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4A644597-0D47-4026-9AE8-45A349337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29182"/>
              </p:ext>
            </p:extLst>
          </p:nvPr>
        </p:nvGraphicFramePr>
        <p:xfrm>
          <a:off x="793287" y="440671"/>
          <a:ext cx="7557426" cy="597665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778713">
                  <a:extLst>
                    <a:ext uri="{9D8B030D-6E8A-4147-A177-3AD203B41FA5}">
                      <a16:colId xmlns:a16="http://schemas.microsoft.com/office/drawing/2014/main" val="611972501"/>
                    </a:ext>
                  </a:extLst>
                </a:gridCol>
                <a:gridCol w="3778713">
                  <a:extLst>
                    <a:ext uri="{9D8B030D-6E8A-4147-A177-3AD203B41FA5}">
                      <a16:colId xmlns:a16="http://schemas.microsoft.com/office/drawing/2014/main" val="1679253945"/>
                    </a:ext>
                  </a:extLst>
                </a:gridCol>
              </a:tblGrid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회차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내용</a:t>
                      </a:r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2113411041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1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머리</a:t>
                      </a:r>
                      <a:r>
                        <a:rPr lang="en-US" altLang="ko-KR" sz="2200"/>
                        <a:t>(1)</a:t>
                      </a:r>
                      <a:endParaRPr lang="ko-KR" altLang="en-US" sz="2200"/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430500442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2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머리</a:t>
                      </a:r>
                      <a:r>
                        <a:rPr lang="en-US" altLang="ko-KR" sz="2200"/>
                        <a:t>(2)</a:t>
                      </a:r>
                      <a:endParaRPr lang="ko-KR" altLang="en-US" sz="2200"/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2553679587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3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몸통</a:t>
                      </a:r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2797174407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4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팔다리</a:t>
                      </a:r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161474780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5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손발</a:t>
                      </a:r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2922105810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6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통합</a:t>
                      </a:r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3890608434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7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맵제작</a:t>
                      </a:r>
                      <a:r>
                        <a:rPr lang="en-US" altLang="ko-KR" sz="2200"/>
                        <a:t>(1)</a:t>
                      </a:r>
                      <a:endParaRPr lang="ko-KR" altLang="en-US" sz="2200"/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711756411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8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맵제작</a:t>
                      </a:r>
                      <a:r>
                        <a:rPr lang="en-US" altLang="ko-KR" sz="2200"/>
                        <a:t>(2)</a:t>
                      </a:r>
                      <a:endParaRPr lang="ko-KR" altLang="en-US" sz="2200"/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3768557067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9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바이패드</a:t>
                      </a:r>
                      <a:r>
                        <a:rPr lang="en-US" altLang="ko-KR" sz="2200"/>
                        <a:t>(1)</a:t>
                      </a:r>
                      <a:endParaRPr lang="ko-KR" altLang="en-US" sz="2200"/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3409380830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10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/>
                        <a:t>바이패드</a:t>
                      </a:r>
                      <a:r>
                        <a:rPr lang="en-US" altLang="ko-KR" sz="2200"/>
                        <a:t>(2), BVH(1)</a:t>
                      </a:r>
                      <a:endParaRPr lang="ko-KR" altLang="en-US" sz="2200"/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1600480298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11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BVH(2)</a:t>
                      </a:r>
                      <a:endParaRPr lang="ko-KR" altLang="en-US" sz="2200"/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1828372304"/>
                  </a:ext>
                </a:extLst>
              </a:tr>
              <a:tr h="4597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12</a:t>
                      </a:r>
                      <a:r>
                        <a:rPr lang="ko-KR" altLang="en-US" sz="2200"/>
                        <a:t>주</a:t>
                      </a:r>
                    </a:p>
                  </a:txBody>
                  <a:tcPr marL="113361" marR="113361" marT="56681" marB="5668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/>
                        <a:t>BVH(3)</a:t>
                      </a:r>
                      <a:endParaRPr lang="ko-KR" altLang="en-US" sz="2200"/>
                    </a:p>
                  </a:txBody>
                  <a:tcPr marL="113361" marR="113361" marT="56681" marB="56681"/>
                </a:tc>
                <a:extLst>
                  <a:ext uri="{0D108BD9-81ED-4DB2-BD59-A6C34878D82A}">
                    <a16:rowId xmlns:a16="http://schemas.microsoft.com/office/drawing/2014/main" val="2577312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50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/>
        </p:nvSpPr>
        <p:spPr>
          <a:xfrm>
            <a:off x="18892" y="9432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기본화면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(ver.2014)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그림 5" descr="K-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4034" y="1095234"/>
            <a:ext cx="9001073" cy="544522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02875" y="1278056"/>
            <a:ext cx="4297810" cy="86102"/>
          </a:xfrm>
          <a:prstGeom prst="rect">
            <a:avLst/>
          </a:prstGeom>
          <a:noFill/>
          <a:ln w="254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64182" y="1368152"/>
            <a:ext cx="6552728" cy="192527"/>
          </a:xfrm>
          <a:prstGeom prst="rect">
            <a:avLst/>
          </a:prstGeom>
          <a:noFill/>
          <a:ln w="254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148956" y="1792643"/>
            <a:ext cx="958775" cy="1584176"/>
          </a:xfrm>
          <a:prstGeom prst="rect">
            <a:avLst/>
          </a:prstGeom>
          <a:noFill/>
          <a:ln w="254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554461" y="6192688"/>
            <a:ext cx="538712" cy="288032"/>
          </a:xfrm>
          <a:prstGeom prst="rect">
            <a:avLst/>
          </a:prstGeom>
          <a:noFill/>
          <a:ln w="254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869037" y="6192688"/>
            <a:ext cx="678300" cy="288032"/>
          </a:xfrm>
          <a:prstGeom prst="rect">
            <a:avLst/>
          </a:prstGeom>
          <a:noFill/>
          <a:ln w="254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644901" y="648072"/>
            <a:ext cx="1944216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커먼드패널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72493" y="3528392"/>
            <a:ext cx="1331640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뷰포트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797029" y="4896544"/>
            <a:ext cx="129614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뷰포트컨트롤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80205" y="6014449"/>
            <a:ext cx="6696744" cy="216024"/>
          </a:xfrm>
          <a:prstGeom prst="rect">
            <a:avLst/>
          </a:prstGeom>
          <a:noFill/>
          <a:ln w="254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2900485" y="5256584"/>
            <a:ext cx="165618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키프레임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750022" y="6226910"/>
            <a:ext cx="1391256" cy="181802"/>
          </a:xfrm>
          <a:prstGeom prst="rect">
            <a:avLst/>
          </a:prstGeom>
          <a:noFill/>
          <a:ln w="254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212853" y="6453336"/>
            <a:ext cx="1008112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좌표</a:t>
            </a:r>
          </a:p>
        </p:txBody>
      </p:sp>
      <p:cxnSp>
        <p:nvCxnSpPr>
          <p:cNvPr id="20" name="Shape 44"/>
          <p:cNvCxnSpPr>
            <a:stCxn id="8" idx="0"/>
            <a:endCxn id="27" idx="3"/>
          </p:cNvCxnSpPr>
          <p:nvPr/>
        </p:nvCxnSpPr>
        <p:spPr>
          <a:xfrm rot="16200000" flipH="1">
            <a:off x="3671194" y="158642"/>
            <a:ext cx="990196" cy="3229025"/>
          </a:xfrm>
          <a:prstGeom prst="bentConnector4">
            <a:avLst>
              <a:gd name="adj1" fmla="val -23086"/>
              <a:gd name="adj2" fmla="val 107080"/>
            </a:avLst>
          </a:prstGeom>
          <a:ln w="25400">
            <a:solidFill>
              <a:srgbClr val="E109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hape 46"/>
          <p:cNvCxnSpPr/>
          <p:nvPr/>
        </p:nvCxnSpPr>
        <p:spPr>
          <a:xfrm rot="16200000" flipH="1">
            <a:off x="976008" y="1747931"/>
            <a:ext cx="504056" cy="176546"/>
          </a:xfrm>
          <a:prstGeom prst="bentConnector3">
            <a:avLst>
              <a:gd name="adj1" fmla="val 50000"/>
            </a:avLst>
          </a:prstGeom>
          <a:ln w="25400">
            <a:solidFill>
              <a:srgbClr val="E109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7581005" y="898319"/>
            <a:ext cx="13333" cy="879210"/>
          </a:xfrm>
          <a:prstGeom prst="straightConnector1">
            <a:avLst/>
          </a:prstGeom>
          <a:ln w="25400">
            <a:solidFill>
              <a:srgbClr val="E109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16" idx="0"/>
            <a:endCxn id="17" idx="2"/>
          </p:cNvCxnSpPr>
          <p:nvPr/>
        </p:nvCxnSpPr>
        <p:spPr>
          <a:xfrm flipV="1">
            <a:off x="3728577" y="5472608"/>
            <a:ext cx="0" cy="541841"/>
          </a:xfrm>
          <a:prstGeom prst="straightConnector1">
            <a:avLst/>
          </a:prstGeom>
          <a:ln w="25400">
            <a:solidFill>
              <a:srgbClr val="E109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hape 55"/>
          <p:cNvCxnSpPr>
            <a:endCxn id="19" idx="1"/>
          </p:cNvCxnSpPr>
          <p:nvPr/>
        </p:nvCxnSpPr>
        <p:spPr>
          <a:xfrm rot="16200000" flipH="1">
            <a:off x="6064527" y="6413022"/>
            <a:ext cx="152636" cy="144016"/>
          </a:xfrm>
          <a:prstGeom prst="bentConnector2">
            <a:avLst/>
          </a:prstGeom>
          <a:ln w="25400">
            <a:solidFill>
              <a:srgbClr val="E109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11" idx="0"/>
          </p:cNvCxnSpPr>
          <p:nvPr/>
        </p:nvCxnSpPr>
        <p:spPr>
          <a:xfrm rot="16200000" flipV="1">
            <a:off x="8238415" y="5607286"/>
            <a:ext cx="792088" cy="378716"/>
          </a:xfrm>
          <a:prstGeom prst="bentConnector3">
            <a:avLst>
              <a:gd name="adj1" fmla="val 50000"/>
            </a:avLst>
          </a:prstGeom>
          <a:ln w="25400">
            <a:solidFill>
              <a:srgbClr val="E109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63"/>
          <p:cNvCxnSpPr/>
          <p:nvPr/>
        </p:nvCxnSpPr>
        <p:spPr>
          <a:xfrm rot="10800000">
            <a:off x="7292973" y="5688632"/>
            <a:ext cx="257804" cy="648072"/>
          </a:xfrm>
          <a:prstGeom prst="bentConnector2">
            <a:avLst/>
          </a:prstGeom>
          <a:ln w="25400">
            <a:solidFill>
              <a:srgbClr val="E109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4412653" y="2160240"/>
            <a:ext cx="1368152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메뉴바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08197" y="1792643"/>
            <a:ext cx="6840760" cy="4184021"/>
          </a:xfrm>
          <a:prstGeom prst="rect">
            <a:avLst/>
          </a:prstGeom>
          <a:noFill/>
          <a:ln w="25400" cmpd="sng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6677" y="2088232"/>
            <a:ext cx="1800200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메인툴바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996829" y="5184576"/>
            <a:ext cx="187220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에니메이션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컨트롤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K-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40899" y="3550704"/>
            <a:ext cx="3682273" cy="3005763"/>
          </a:xfrm>
          <a:prstGeom prst="rect">
            <a:avLst/>
          </a:prstGeom>
        </p:spPr>
      </p:pic>
      <p:sp>
        <p:nvSpPr>
          <p:cNvPr id="3" name="TextBox 7"/>
          <p:cNvSpPr txBox="1"/>
          <p:nvPr/>
        </p:nvSpPr>
        <p:spPr>
          <a:xfrm>
            <a:off x="228331" y="1174440"/>
            <a:ext cx="804194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Top, Front, Left, Back, Right, Bottom View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 있으며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view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와 원근감이 있는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Perspective View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 있음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뷰포트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바꾸기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뷰포트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이름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클릭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                     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단축키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V </a:t>
            </a:r>
          </a:p>
          <a:p>
            <a:pPr>
              <a:lnSpc>
                <a:spcPct val="150000"/>
              </a:lnSpc>
            </a:pP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 기본 단축키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T : Top / F : Front / L : Left / B : Bottom / 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P : Perspective / U : User / C : Camera</a:t>
            </a:r>
          </a:p>
        </p:txBody>
      </p:sp>
      <p:pic>
        <p:nvPicPr>
          <p:cNvPr id="5" name="그림 4" descr="max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88771" y="3478696"/>
            <a:ext cx="1257300" cy="1514475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sp>
        <p:nvSpPr>
          <p:cNvPr id="7" name="자유형 6"/>
          <p:cNvSpPr/>
          <p:nvPr/>
        </p:nvSpPr>
        <p:spPr>
          <a:xfrm>
            <a:off x="18892" y="9432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/>
          <p:nvPr/>
        </p:nvSpPr>
        <p:spPr>
          <a:xfrm>
            <a:off x="18892" y="9432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그림 7" descr="K-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3269" y="1185885"/>
            <a:ext cx="2088232" cy="1694226"/>
          </a:xfrm>
          <a:prstGeom prst="rect">
            <a:avLst/>
          </a:prstGeom>
        </p:spPr>
      </p:pic>
      <p:pic>
        <p:nvPicPr>
          <p:cNvPr id="9" name="그림 8" descr="K-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3270" y="3030919"/>
            <a:ext cx="2088232" cy="1694225"/>
          </a:xfrm>
          <a:prstGeom prst="rect">
            <a:avLst/>
          </a:prstGeom>
        </p:spPr>
      </p:pic>
      <p:pic>
        <p:nvPicPr>
          <p:cNvPr id="10" name="그림 9" descr="K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3270" y="4903127"/>
            <a:ext cx="2088232" cy="1694225"/>
          </a:xfrm>
          <a:prstGeom prst="rect">
            <a:avLst/>
          </a:prstGeom>
        </p:spPr>
      </p:pic>
      <p:sp>
        <p:nvSpPr>
          <p:cNvPr id="11" name="TextBox 9"/>
          <p:cNvSpPr txBox="1"/>
          <p:nvPr/>
        </p:nvSpPr>
        <p:spPr>
          <a:xfrm>
            <a:off x="2485517" y="1329901"/>
            <a:ext cx="640521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F4 : Edged Face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모드 보기</a:t>
            </a: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§"/>
            </a:pP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§"/>
            </a:pP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§"/>
            </a:pP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§"/>
            </a:pP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F3 :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오브젝트를 색상모드로 보기</a:t>
            </a: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§"/>
            </a:pP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§"/>
            </a:pP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F3+F4 :</a:t>
            </a:r>
          </a:p>
          <a:p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Edged Face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모드 보기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오브젝트를 </a:t>
            </a: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색상모드로 보기</a:t>
            </a: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2540" y="1311513"/>
            <a:ext cx="8798919" cy="5357847"/>
          </a:xfrm>
          <a:prstGeom prst="rect">
            <a:avLst/>
          </a:prstGeom>
        </p:spPr>
      </p:pic>
      <p:sp>
        <p:nvSpPr>
          <p:cNvPr id="2" name="자유형 1"/>
          <p:cNvSpPr/>
          <p:nvPr/>
        </p:nvSpPr>
        <p:spPr>
          <a:xfrm>
            <a:off x="18892" y="9432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그림 3" descr="K-8.png"/>
          <p:cNvPicPr>
            <a:picLocks noChangeAspect="1"/>
          </p:cNvPicPr>
          <p:nvPr/>
        </p:nvPicPr>
        <p:blipFill>
          <a:blip r:embed="rId2" cstate="print"/>
          <a:srcRect l="80685" t="11082" r="9985" b="62845"/>
          <a:stretch>
            <a:fillRect/>
          </a:stretch>
        </p:blipFill>
        <p:spPr>
          <a:xfrm>
            <a:off x="6317940" y="707973"/>
            <a:ext cx="2736304" cy="465651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317940" y="707973"/>
            <a:ext cx="504056" cy="504056"/>
          </a:xfrm>
          <a:prstGeom prst="rect">
            <a:avLst/>
          </a:prstGeom>
          <a:noFill/>
          <a:ln w="38100" cmpd="sng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461956" y="1212029"/>
            <a:ext cx="504056" cy="504056"/>
          </a:xfrm>
          <a:prstGeom prst="rect">
            <a:avLst/>
          </a:prstGeom>
          <a:noFill/>
          <a:ln w="38100" cmpd="sng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518352" y="4709462"/>
            <a:ext cx="81758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ko-KR" alt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커먼드패널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Create-Geometry </a:t>
            </a:r>
          </a:p>
          <a:p>
            <a:pPr marL="514350" indent="-514350"/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ko-K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</a:t>
            </a:r>
            <a:r>
              <a:rPr lang="ko-KR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다양한 오브젝트 제작 가능</a:t>
            </a:r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/>
            <a:endParaRPr lang="en-US" altLang="ko-K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Editable Poly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그림 13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4685" y="1165071"/>
            <a:ext cx="7474630" cy="5648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45972" y="0"/>
            <a:ext cx="30980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오브젝트를 생성 후</a:t>
            </a:r>
            <a:endParaRPr lang="en-US" altLang="ko-KR" b="1" dirty="0"/>
          </a:p>
          <a:p>
            <a:r>
              <a:rPr lang="ko-KR" altLang="en-US" b="1" dirty="0"/>
              <a:t>마우스 오른쪽 클릭</a:t>
            </a:r>
            <a:endParaRPr lang="en-US" altLang="ko-KR" b="1" dirty="0"/>
          </a:p>
          <a:p>
            <a:pPr>
              <a:buFont typeface="Wingdings"/>
              <a:buChar char="à"/>
            </a:pPr>
            <a:r>
              <a:rPr lang="en-US" altLang="ko-KR" b="1" dirty="0">
                <a:sym typeface="Wingdings" pitchFamily="2" charset="2"/>
              </a:rPr>
              <a:t>Convert To :</a:t>
            </a:r>
          </a:p>
          <a:p>
            <a:pPr>
              <a:buFont typeface="Wingdings"/>
              <a:buChar char="à"/>
            </a:pPr>
            <a:r>
              <a:rPr lang="en-US" altLang="ko-KR" b="1" dirty="0">
                <a:sym typeface="Wingdings" pitchFamily="2" charset="2"/>
              </a:rPr>
              <a:t>Convert to Editable Poly</a:t>
            </a:r>
            <a:endParaRPr lang="ko-KR" altLang="en-US" b="1" dirty="0"/>
          </a:p>
        </p:txBody>
      </p:sp>
      <p:sp>
        <p:nvSpPr>
          <p:cNvPr id="8" name="직사각형 7"/>
          <p:cNvSpPr/>
          <p:nvPr/>
        </p:nvSpPr>
        <p:spPr>
          <a:xfrm>
            <a:off x="5386759" y="5452781"/>
            <a:ext cx="1008112" cy="504056"/>
          </a:xfrm>
          <a:prstGeom prst="rect">
            <a:avLst/>
          </a:prstGeom>
          <a:noFill/>
          <a:ln w="381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Editable Poly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그림 13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4685" y="1165071"/>
            <a:ext cx="7474629" cy="56483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164288" y="2420888"/>
            <a:ext cx="1080120" cy="216024"/>
          </a:xfrm>
          <a:prstGeom prst="rect">
            <a:avLst/>
          </a:prstGeom>
          <a:noFill/>
          <a:ln w="38100">
            <a:solidFill>
              <a:srgbClr val="E109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502072" y="188640"/>
            <a:ext cx="23875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 err="1"/>
              <a:t>모디파이</a:t>
            </a:r>
            <a:r>
              <a:rPr lang="ko-KR" altLang="en-US" b="1" dirty="0"/>
              <a:t> 패널</a:t>
            </a:r>
            <a:endParaRPr lang="en-US" altLang="ko-KR" b="1" dirty="0"/>
          </a:p>
          <a:p>
            <a:pPr algn="ctr"/>
            <a:r>
              <a:rPr lang="ko-KR" altLang="en-US" b="1" dirty="0" err="1"/>
              <a:t>스택에</a:t>
            </a:r>
            <a:r>
              <a:rPr lang="ko-KR" altLang="en-US" b="1" dirty="0"/>
              <a:t> </a:t>
            </a:r>
            <a:r>
              <a:rPr lang="en-US" altLang="ko-KR" b="1" dirty="0"/>
              <a:t>Editable Poly</a:t>
            </a:r>
          </a:p>
          <a:p>
            <a:pPr algn="ctr"/>
            <a:r>
              <a:rPr lang="ko-KR" altLang="en-US" b="1" dirty="0"/>
              <a:t>명령어 생성</a:t>
            </a:r>
          </a:p>
        </p:txBody>
      </p:sp>
      <p:cxnSp>
        <p:nvCxnSpPr>
          <p:cNvPr id="12" name="직선 화살표 연결선 11"/>
          <p:cNvCxnSpPr>
            <a:stCxn id="7" idx="2"/>
            <a:endCxn id="6" idx="0"/>
          </p:cNvCxnSpPr>
          <p:nvPr/>
        </p:nvCxnSpPr>
        <p:spPr>
          <a:xfrm>
            <a:off x="7695829" y="1111970"/>
            <a:ext cx="8519" cy="1308918"/>
          </a:xfrm>
          <a:prstGeom prst="straightConnector1">
            <a:avLst/>
          </a:prstGeom>
          <a:ln w="38100">
            <a:solidFill>
              <a:srgbClr val="E109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Pol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224533"/>
            <a:ext cx="1628775" cy="2276475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892427" y="1196752"/>
            <a:ext cx="7288085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Selection</a:t>
            </a:r>
          </a:p>
          <a:p>
            <a:r>
              <a:rPr lang="ko-KR" altLang="en-US" b="1" dirty="0"/>
              <a:t>하위 레벨인 </a:t>
            </a:r>
            <a:r>
              <a:rPr lang="en-US" altLang="ko-KR" b="1" dirty="0"/>
              <a:t>Vertex, Edge, Border, Polygon, Element </a:t>
            </a:r>
            <a:r>
              <a:rPr lang="ko-KR" altLang="en-US" b="1" dirty="0"/>
              <a:t>중에서</a:t>
            </a:r>
            <a:endParaRPr lang="en-US" altLang="ko-KR" b="1" dirty="0"/>
          </a:p>
          <a:p>
            <a:r>
              <a:rPr lang="ko-KR" altLang="en-US" b="1" dirty="0"/>
              <a:t>선택여부에 따라 메뉴의 활성화가 결정됨</a:t>
            </a:r>
            <a:r>
              <a:rPr lang="en-US" altLang="ko-KR" b="1" dirty="0"/>
              <a:t>. </a:t>
            </a:r>
          </a:p>
          <a:p>
            <a:r>
              <a:rPr lang="en-US" altLang="ko-KR" b="1" dirty="0"/>
              <a:t>(</a:t>
            </a:r>
            <a:r>
              <a:rPr lang="ko-KR" altLang="en-US" b="1" dirty="0"/>
              <a:t> 순서대로 단축키 </a:t>
            </a:r>
            <a:r>
              <a:rPr lang="en-US" altLang="ko-KR" b="1" dirty="0"/>
              <a:t>1,2,3,4,5 )</a:t>
            </a:r>
          </a:p>
          <a:p>
            <a:endParaRPr lang="en-US" altLang="ko-KR" b="1" dirty="0"/>
          </a:p>
          <a:p>
            <a:pPr>
              <a:buFont typeface="Arial" pitchFamily="34" charset="0"/>
              <a:buChar char="•"/>
            </a:pPr>
            <a:r>
              <a:rPr lang="en-US" altLang="ko-KR" b="1" dirty="0"/>
              <a:t> By Vertex : Vertex</a:t>
            </a:r>
            <a:r>
              <a:rPr lang="ko-KR" altLang="en-US" b="1" dirty="0"/>
              <a:t>를</a:t>
            </a:r>
            <a:r>
              <a:rPr lang="en-US" altLang="ko-KR" b="1" dirty="0"/>
              <a:t> </a:t>
            </a:r>
            <a:r>
              <a:rPr lang="ko-KR" altLang="en-US" b="1" dirty="0"/>
              <a:t>통해 연결되어 있는 하위 레벨을 선택하게 됨</a:t>
            </a:r>
            <a:r>
              <a:rPr lang="en-US" altLang="ko-KR" b="1" dirty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altLang="ko-KR" b="1" dirty="0"/>
              <a:t> Ignore </a:t>
            </a:r>
            <a:r>
              <a:rPr lang="en-US" altLang="ko-KR" b="1" dirty="0" err="1"/>
              <a:t>Backfacing</a:t>
            </a:r>
            <a:r>
              <a:rPr lang="en-US" altLang="ko-KR" b="1" dirty="0"/>
              <a:t> : </a:t>
            </a:r>
            <a:r>
              <a:rPr lang="ko-KR" altLang="en-US" b="1" dirty="0"/>
              <a:t>체크 시 전면에서 마우스를 드래그하여 </a:t>
            </a:r>
            <a:endParaRPr lang="en-US" altLang="ko-KR" b="1" dirty="0"/>
          </a:p>
          <a:p>
            <a:r>
              <a:rPr lang="en-US" altLang="ko-KR" b="1" dirty="0"/>
              <a:t>Vertex</a:t>
            </a:r>
            <a:r>
              <a:rPr lang="ko-KR" altLang="en-US" b="1" dirty="0"/>
              <a:t>나 면의 요소들을 선택할 때 후면의 요소들은 선택되지 않음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pPr>
              <a:buFont typeface="Arial" pitchFamily="34" charset="0"/>
              <a:buChar char="•"/>
            </a:pPr>
            <a:r>
              <a:rPr lang="en-US" altLang="ko-KR" b="1" dirty="0"/>
              <a:t> Shrink : </a:t>
            </a:r>
            <a:r>
              <a:rPr lang="ko-KR" altLang="en-US" b="1" dirty="0"/>
              <a:t>선택 영역을 점차적으로 축소</a:t>
            </a:r>
            <a:endParaRPr lang="en-US" altLang="ko-KR" b="1" dirty="0"/>
          </a:p>
          <a:p>
            <a:pPr>
              <a:buFont typeface="Arial" pitchFamily="34" charset="0"/>
              <a:buChar char="•"/>
            </a:pPr>
            <a:r>
              <a:rPr lang="en-US" altLang="ko-KR" b="1" dirty="0"/>
              <a:t> Grow : </a:t>
            </a:r>
            <a:r>
              <a:rPr lang="ko-KR" altLang="en-US" b="1" dirty="0"/>
              <a:t>선택 영역을 점차적으로 확대</a:t>
            </a:r>
            <a:endParaRPr lang="en-US" altLang="ko-KR" b="1" dirty="0"/>
          </a:p>
          <a:p>
            <a:pPr>
              <a:buFont typeface="Arial" pitchFamily="34" charset="0"/>
              <a:buChar char="•"/>
            </a:pPr>
            <a:r>
              <a:rPr lang="en-US" altLang="ko-KR" b="1" dirty="0"/>
              <a:t> Ring : Edge, Border </a:t>
            </a:r>
            <a:r>
              <a:rPr lang="ko-KR" altLang="en-US" b="1" dirty="0"/>
              <a:t>레벨에서 </a:t>
            </a:r>
            <a:r>
              <a:rPr lang="ko-KR" altLang="en-US" b="1"/>
              <a:t>병렬로 선택</a:t>
            </a:r>
            <a:endParaRPr lang="en-US" altLang="ko-KR" b="1" dirty="0"/>
          </a:p>
          <a:p>
            <a:pPr>
              <a:buFont typeface="Arial" pitchFamily="34" charset="0"/>
              <a:buChar char="•"/>
            </a:pPr>
            <a:r>
              <a:rPr lang="en-US" altLang="ko-KR" b="1" dirty="0"/>
              <a:t> Loop : Edge, Border </a:t>
            </a:r>
            <a:r>
              <a:rPr lang="ko-KR" altLang="en-US" b="1" dirty="0"/>
              <a:t>레벨에서 직렬로 선택 </a:t>
            </a:r>
            <a:endParaRPr lang="en-US" altLang="ko-KR" b="1" dirty="0"/>
          </a:p>
          <a:p>
            <a:endParaRPr lang="en-US" altLang="ko-KR" b="1" dirty="0"/>
          </a:p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Preview Selection 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b="1" dirty="0"/>
              <a:t>Off : </a:t>
            </a:r>
            <a:r>
              <a:rPr lang="ko-KR" altLang="en-US" b="1" dirty="0"/>
              <a:t>기능 해제</a:t>
            </a:r>
            <a:endParaRPr lang="en-US" altLang="ko-KR" b="1" dirty="0"/>
          </a:p>
          <a:p>
            <a:r>
              <a:rPr lang="en-US" altLang="ko-KR" b="1" dirty="0" err="1"/>
              <a:t>SubObj</a:t>
            </a:r>
            <a:r>
              <a:rPr lang="en-US" altLang="ko-KR" b="1" dirty="0"/>
              <a:t> : </a:t>
            </a:r>
            <a:r>
              <a:rPr lang="ko-KR" altLang="en-US" b="1" dirty="0"/>
              <a:t>선택하고자 하는 요소</a:t>
            </a:r>
            <a:r>
              <a:rPr lang="en-US" altLang="ko-KR" b="1" dirty="0"/>
              <a:t>(</a:t>
            </a:r>
            <a:r>
              <a:rPr lang="ko-KR" altLang="en-US" b="1" dirty="0"/>
              <a:t>점</a:t>
            </a:r>
            <a:r>
              <a:rPr lang="en-US" altLang="ko-KR" b="1" dirty="0"/>
              <a:t>,</a:t>
            </a:r>
            <a:r>
              <a:rPr lang="ko-KR" altLang="en-US" b="1" dirty="0"/>
              <a:t>선</a:t>
            </a:r>
            <a:r>
              <a:rPr lang="en-US" altLang="ko-KR" b="1" dirty="0"/>
              <a:t>,</a:t>
            </a:r>
            <a:r>
              <a:rPr lang="ko-KR" altLang="en-US" b="1" dirty="0"/>
              <a:t>면</a:t>
            </a:r>
            <a:r>
              <a:rPr lang="en-US" altLang="ko-KR" b="1" dirty="0"/>
              <a:t>)</a:t>
            </a:r>
            <a:r>
              <a:rPr lang="ko-KR" altLang="en-US" b="1" dirty="0"/>
              <a:t>에 마우스를 가져가면 미리 </a:t>
            </a:r>
            <a:endParaRPr lang="en-US" altLang="ko-KR" b="1" dirty="0"/>
          </a:p>
          <a:p>
            <a:r>
              <a:rPr lang="ko-KR" altLang="en-US" b="1" dirty="0"/>
              <a:t>            보여줌</a:t>
            </a:r>
            <a:r>
              <a:rPr lang="en-US" altLang="ko-KR" b="1" dirty="0"/>
              <a:t>. (</a:t>
            </a:r>
            <a:r>
              <a:rPr lang="ko-KR" altLang="en-US" b="1" dirty="0"/>
              <a:t>노란색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Multi : </a:t>
            </a:r>
            <a:r>
              <a:rPr lang="ko-KR" altLang="en-US" b="1" dirty="0"/>
              <a:t>요소들을 따로 선택하지 않아도 점</a:t>
            </a:r>
            <a:r>
              <a:rPr lang="en-US" altLang="ko-KR" b="1" dirty="0"/>
              <a:t>,</a:t>
            </a:r>
            <a:r>
              <a:rPr lang="ko-KR" altLang="en-US" b="1" dirty="0"/>
              <a:t>선</a:t>
            </a:r>
            <a:r>
              <a:rPr lang="en-US" altLang="ko-KR" b="1" dirty="0"/>
              <a:t>,</a:t>
            </a:r>
            <a:r>
              <a:rPr lang="ko-KR" altLang="en-US" b="1" dirty="0"/>
              <a:t>면을 넘어다님</a:t>
            </a:r>
            <a:r>
              <a:rPr lang="en-US" altLang="ko-KR" b="1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 descr="rin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520" y="3645024"/>
            <a:ext cx="1745662" cy="1416291"/>
          </a:xfrm>
          <a:prstGeom prst="rect">
            <a:avLst/>
          </a:prstGeom>
        </p:spPr>
      </p:pic>
      <p:pic>
        <p:nvPicPr>
          <p:cNvPr id="7" name="그림 6" descr="loop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504" y="5157192"/>
            <a:ext cx="1745662" cy="1416291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0" y="188640"/>
            <a:ext cx="8803817" cy="936104"/>
            <a:chOff x="0" y="188640"/>
            <a:chExt cx="8803817" cy="936104"/>
          </a:xfrm>
        </p:grpSpPr>
        <p:sp>
          <p:nvSpPr>
            <p:cNvPr id="11" name="자유형 10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724128" y="293747"/>
              <a:ext cx="307968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의 명령어 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240523" y="4717587"/>
            <a:ext cx="6286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Ring</a:t>
            </a:r>
            <a:endParaRPr lang="ko-KR" altLang="en-US" sz="16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1236961" y="6221013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Loop</a:t>
            </a:r>
            <a:endParaRPr lang="ko-KR" altLang="en-US" sz="16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7704" y="1196752"/>
            <a:ext cx="6617645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Edit Geometry</a:t>
            </a:r>
          </a:p>
          <a:p>
            <a:pPr>
              <a:buClr>
                <a:schemeClr val="tx1"/>
              </a:buClr>
            </a:pPr>
            <a:endParaRPr lang="en-US" altLang="ko-K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Repeat Last : </a:t>
            </a:r>
            <a:r>
              <a:rPr lang="ko-KR" altLang="en-US" b="1" dirty="0"/>
              <a:t>마지막으로 사용한 명령을 재실행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Constraints : </a:t>
            </a:r>
            <a:r>
              <a:rPr lang="ko-KR" altLang="en-US" b="1" dirty="0"/>
              <a:t>선택사항에 구속력을 가짐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Preserve UVs : </a:t>
            </a:r>
            <a:r>
              <a:rPr lang="ko-KR" altLang="en-US" b="1" dirty="0"/>
              <a:t>체크 시 </a:t>
            </a:r>
            <a:r>
              <a:rPr lang="en-US" altLang="ko-KR" b="1" dirty="0"/>
              <a:t>UV</a:t>
            </a:r>
            <a:r>
              <a:rPr lang="ko-KR" altLang="en-US" b="1" dirty="0"/>
              <a:t>가 적용되었을 때 </a:t>
            </a:r>
            <a:r>
              <a:rPr lang="en-US" altLang="ko-KR" b="1" dirty="0"/>
              <a:t>UV</a:t>
            </a:r>
            <a:r>
              <a:rPr lang="ko-KR" altLang="en-US" b="1" dirty="0"/>
              <a:t>좌표를 유지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: </a:t>
            </a:r>
            <a:r>
              <a:rPr lang="ko-KR" altLang="en-US" b="1" dirty="0"/>
              <a:t>하위레벨에 따라 </a:t>
            </a:r>
            <a:r>
              <a:rPr lang="en-US" altLang="ko-KR" b="1" dirty="0"/>
              <a:t>Vertex, Edge, Polygon</a:t>
            </a:r>
            <a:r>
              <a:rPr lang="ko-KR" altLang="en-US" b="1" dirty="0"/>
              <a:t>을 만듬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Collapse : </a:t>
            </a:r>
            <a:r>
              <a:rPr lang="ko-KR" altLang="en-US" b="1" dirty="0"/>
              <a:t>하위레벨에 따라 선택된 요소를 하나로 합침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Attach : </a:t>
            </a:r>
            <a:r>
              <a:rPr lang="ko-KR" altLang="en-US" b="1" dirty="0"/>
              <a:t>속성이 다른 물체를 하나의 오브젝트로 합침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Detach : </a:t>
            </a:r>
            <a:r>
              <a:rPr lang="ko-KR" altLang="en-US" b="1" dirty="0"/>
              <a:t>선택된 요소를 속성이 다른 오브젝트로 나눔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Slice Plane : </a:t>
            </a:r>
            <a:r>
              <a:rPr lang="ko-KR" altLang="en-US" b="1" dirty="0"/>
              <a:t>면을 나누는 </a:t>
            </a:r>
            <a:r>
              <a:rPr lang="en-US" altLang="ko-KR" b="1" dirty="0"/>
              <a:t>Slice Plane</a:t>
            </a:r>
            <a:r>
              <a:rPr lang="ko-KR" altLang="en-US" b="1" dirty="0"/>
              <a:t>을 만듬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Split : </a:t>
            </a:r>
            <a:r>
              <a:rPr lang="ko-KR" altLang="en-US" b="1" dirty="0"/>
              <a:t>체크 시 물체를 각각의 </a:t>
            </a:r>
            <a:r>
              <a:rPr lang="en-US" altLang="ko-KR" b="1" dirty="0"/>
              <a:t>Element</a:t>
            </a:r>
            <a:r>
              <a:rPr lang="ko-KR" altLang="en-US" b="1" dirty="0"/>
              <a:t>로 </a:t>
            </a:r>
            <a:r>
              <a:rPr lang="ko-KR" altLang="en-US" b="1" dirty="0" err="1"/>
              <a:t>만듬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Slice : </a:t>
            </a:r>
            <a:r>
              <a:rPr lang="ko-KR" altLang="en-US" b="1" dirty="0"/>
              <a:t>자르고자 하는 위치에 </a:t>
            </a:r>
            <a:r>
              <a:rPr lang="en-US" altLang="ko-KR" b="1" dirty="0"/>
              <a:t>Slice</a:t>
            </a:r>
            <a:r>
              <a:rPr lang="ko-KR" altLang="en-US" b="1" dirty="0"/>
              <a:t>로 이동한 후 물체를 자름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Reset Plane : </a:t>
            </a:r>
            <a:r>
              <a:rPr lang="en-US" altLang="ko-KR" b="1" dirty="0"/>
              <a:t>Slice </a:t>
            </a:r>
            <a:r>
              <a:rPr lang="ko-KR" altLang="en-US" b="1" dirty="0"/>
              <a:t>초기화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Slice : </a:t>
            </a:r>
            <a:r>
              <a:rPr lang="ko-KR" altLang="en-US" b="1" dirty="0"/>
              <a:t>마우스로 면을 드래그 하여 오브젝트 전체를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</a:t>
            </a:r>
            <a:r>
              <a:rPr lang="ko-KR" altLang="en-US" b="1" dirty="0"/>
              <a:t>빠르게 자를 수 있음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Cut : </a:t>
            </a:r>
            <a:r>
              <a:rPr lang="ko-KR" altLang="en-US" b="1" dirty="0"/>
              <a:t>사용자가 임의대로 면을 분할 할 수 있음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MSmooth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r>
              <a:rPr lang="ko-KR" altLang="en-US" b="1" dirty="0"/>
              <a:t>오브젝트를 분할하여 부드럽게 </a:t>
            </a:r>
            <a:r>
              <a:rPr lang="ko-KR" altLang="en-US" b="1" dirty="0" err="1"/>
              <a:t>만듬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Tessellate : </a:t>
            </a:r>
            <a:r>
              <a:rPr lang="ko-KR" altLang="en-US" b="1" dirty="0"/>
              <a:t>오브젝트의 모든 다각형을 </a:t>
            </a:r>
            <a:r>
              <a:rPr lang="en-US" altLang="ko-KR" b="1" dirty="0"/>
              <a:t>Edge</a:t>
            </a:r>
            <a:r>
              <a:rPr lang="ko-KR" altLang="en-US" b="1" dirty="0"/>
              <a:t>와 </a:t>
            </a:r>
            <a:r>
              <a:rPr lang="en-US" altLang="ko-KR" b="1" dirty="0"/>
              <a:t>Face</a:t>
            </a:r>
            <a:r>
              <a:rPr lang="ko-KR" altLang="en-US" b="1" dirty="0"/>
              <a:t>를 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</a:t>
            </a:r>
            <a:r>
              <a:rPr lang="ko-KR" altLang="en-US" b="1" dirty="0"/>
              <a:t>기준으로 면을 세분화</a:t>
            </a:r>
            <a:endParaRPr lang="en-US" altLang="ko-KR" b="1" dirty="0"/>
          </a:p>
        </p:txBody>
      </p:sp>
      <p:pic>
        <p:nvPicPr>
          <p:cNvPr id="12" name="그림 11" descr="Pol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234537"/>
            <a:ext cx="1622997" cy="4608511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grpSp>
        <p:nvGrpSpPr>
          <p:cNvPr id="16" name="그룹 15"/>
          <p:cNvGrpSpPr/>
          <p:nvPr/>
        </p:nvGrpSpPr>
        <p:grpSpPr>
          <a:xfrm>
            <a:off x="0" y="188640"/>
            <a:ext cx="8803817" cy="936104"/>
            <a:chOff x="0" y="188640"/>
            <a:chExt cx="8803817" cy="936104"/>
          </a:xfrm>
        </p:grpSpPr>
        <p:sp>
          <p:nvSpPr>
            <p:cNvPr id="11" name="자유형 10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24128" y="293747"/>
              <a:ext cx="307968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의 명령어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7704" y="1196752"/>
            <a:ext cx="7025898" cy="44935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Edit Geometry</a:t>
            </a:r>
          </a:p>
          <a:p>
            <a:pPr>
              <a:buClr>
                <a:schemeClr val="tx1"/>
              </a:buClr>
            </a:pP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Make Planar : </a:t>
            </a:r>
            <a:r>
              <a:rPr lang="ko-KR" altLang="en-US" b="1" dirty="0"/>
              <a:t>선택된 </a:t>
            </a:r>
            <a:r>
              <a:rPr lang="en-US" altLang="ko-KR" b="1" dirty="0"/>
              <a:t>vertex</a:t>
            </a:r>
            <a:r>
              <a:rPr lang="ko-KR" altLang="en-US" b="1" dirty="0"/>
              <a:t>들을 </a:t>
            </a:r>
            <a:r>
              <a:rPr lang="en-US" altLang="ko-KR" b="1" dirty="0"/>
              <a:t>X/Y/Z</a:t>
            </a:r>
            <a:r>
              <a:rPr lang="ko-KR" altLang="en-US" b="1" dirty="0"/>
              <a:t>축을 기준으로 </a:t>
            </a:r>
            <a:r>
              <a:rPr lang="en-US" altLang="ko-KR" b="1" dirty="0"/>
              <a:t>2</a:t>
            </a:r>
            <a:r>
              <a:rPr lang="ko-KR" altLang="en-US" b="1" dirty="0"/>
              <a:t>차원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</a:t>
            </a:r>
            <a:r>
              <a:rPr lang="ko-KR" altLang="en-US" b="1" dirty="0"/>
              <a:t>평면을 </a:t>
            </a:r>
            <a:r>
              <a:rPr lang="ko-KR" altLang="en-US" b="1" dirty="0" err="1"/>
              <a:t>만듬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 Align : </a:t>
            </a:r>
            <a:r>
              <a:rPr lang="ko-KR" altLang="en-US" b="1" dirty="0"/>
              <a:t>현재 활성화된 </a:t>
            </a:r>
            <a:r>
              <a:rPr lang="ko-KR" altLang="en-US" b="1" dirty="0" err="1"/>
              <a:t>뷰포트에</a:t>
            </a:r>
            <a:r>
              <a:rPr lang="ko-KR" altLang="en-US" b="1" dirty="0"/>
              <a:t> 맞도록 선택된 </a:t>
            </a:r>
            <a:r>
              <a:rPr lang="en-US" altLang="ko-KR" b="1" dirty="0"/>
              <a:t>Vertex</a:t>
            </a:r>
            <a:r>
              <a:rPr lang="ko-KR" altLang="en-US" b="1" dirty="0"/>
              <a:t>들을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2</a:t>
            </a:r>
            <a:r>
              <a:rPr lang="ko-KR" altLang="en-US" b="1" dirty="0"/>
              <a:t>차원으로 정렬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Grid Align : </a:t>
            </a:r>
            <a:r>
              <a:rPr lang="ko-KR" altLang="en-US" b="1" dirty="0"/>
              <a:t>현재 활성화된 </a:t>
            </a:r>
            <a:r>
              <a:rPr lang="en-US" altLang="ko-KR" b="1" dirty="0"/>
              <a:t>Grid</a:t>
            </a:r>
            <a:r>
              <a:rPr lang="ko-KR" altLang="en-US" b="1" dirty="0"/>
              <a:t>에 맞도록 선택된 </a:t>
            </a:r>
            <a:r>
              <a:rPr lang="en-US" altLang="ko-KR" b="1" dirty="0"/>
              <a:t>Vertex</a:t>
            </a:r>
            <a:r>
              <a:rPr lang="ko-KR" altLang="en-US" b="1" dirty="0"/>
              <a:t>들을 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2</a:t>
            </a:r>
            <a:r>
              <a:rPr lang="ko-KR" altLang="en-US" b="1" dirty="0"/>
              <a:t>차원으로 정렬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Relax : </a:t>
            </a:r>
            <a:r>
              <a:rPr lang="ko-KR" altLang="en-US" b="1" dirty="0"/>
              <a:t>선택한 </a:t>
            </a:r>
            <a:r>
              <a:rPr lang="en-US" altLang="ko-KR" b="1" dirty="0"/>
              <a:t>Vertex</a:t>
            </a:r>
            <a:r>
              <a:rPr lang="ko-KR" altLang="en-US" b="1" dirty="0"/>
              <a:t>를 </a:t>
            </a:r>
            <a:r>
              <a:rPr lang="en-US" altLang="ko-KR" b="1" dirty="0"/>
              <a:t>Relax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Hide Selected : </a:t>
            </a:r>
            <a:r>
              <a:rPr lang="ko-KR" altLang="en-US" b="1" dirty="0"/>
              <a:t>선택한 </a:t>
            </a:r>
            <a:r>
              <a:rPr lang="en-US" altLang="ko-KR" b="1" dirty="0"/>
              <a:t>Vertex</a:t>
            </a:r>
            <a:r>
              <a:rPr lang="ko-KR" altLang="en-US" b="1" dirty="0"/>
              <a:t>을 보이지 않게 숨김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Unhide All : </a:t>
            </a:r>
            <a:r>
              <a:rPr lang="ko-KR" altLang="en-US" b="1" dirty="0"/>
              <a:t>숨겨진 </a:t>
            </a:r>
            <a:r>
              <a:rPr lang="en-US" altLang="ko-KR" b="1" dirty="0"/>
              <a:t>Vertex</a:t>
            </a:r>
            <a:r>
              <a:rPr lang="ko-KR" altLang="en-US" b="1" dirty="0"/>
              <a:t>을</a:t>
            </a:r>
            <a:r>
              <a:rPr lang="en-US" altLang="ko-KR" b="1" dirty="0"/>
              <a:t> </a:t>
            </a:r>
            <a:r>
              <a:rPr lang="ko-KR" altLang="en-US" b="1" dirty="0"/>
              <a:t>보이게 함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Hide Unselected : </a:t>
            </a:r>
            <a:r>
              <a:rPr lang="ko-KR" altLang="en-US" b="1" dirty="0"/>
              <a:t>선택되지 않은 </a:t>
            </a:r>
            <a:r>
              <a:rPr lang="en-US" altLang="ko-KR" b="1" dirty="0"/>
              <a:t>Vertex</a:t>
            </a:r>
            <a:r>
              <a:rPr lang="ko-KR" altLang="en-US" b="1" dirty="0"/>
              <a:t>들을 보이지 않게 숨김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 Interactivity : </a:t>
            </a:r>
            <a:r>
              <a:rPr lang="en-US" altLang="ko-KR" b="1" dirty="0"/>
              <a:t>cut, Slice </a:t>
            </a:r>
            <a:r>
              <a:rPr lang="ko-KR" altLang="en-US" b="1" dirty="0"/>
              <a:t>명령 </a:t>
            </a:r>
            <a:r>
              <a:rPr lang="ko-KR" altLang="en-US" b="1" dirty="0" err="1"/>
              <a:t>실행시</a:t>
            </a:r>
            <a:r>
              <a:rPr lang="ko-KR" altLang="en-US" b="1" dirty="0"/>
              <a:t> </a:t>
            </a:r>
            <a:r>
              <a:rPr lang="en-US" altLang="ko-KR" b="1" dirty="0"/>
              <a:t>Vertex</a:t>
            </a:r>
            <a:r>
              <a:rPr lang="ko-KR" altLang="en-US" b="1" dirty="0"/>
              <a:t>나 </a:t>
            </a:r>
            <a:r>
              <a:rPr lang="en-US" altLang="ko-KR" b="1" dirty="0"/>
              <a:t>Edge</a:t>
            </a:r>
            <a:r>
              <a:rPr lang="ko-KR" altLang="en-US" b="1" dirty="0"/>
              <a:t>등을 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   </a:t>
            </a:r>
            <a:r>
              <a:rPr lang="ko-KR" altLang="en-US" b="1" dirty="0"/>
              <a:t>보이게 함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17" name="그림 16" descr="Pol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7069" y="1234537"/>
            <a:ext cx="1619476" cy="4608513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grpSp>
        <p:nvGrpSpPr>
          <p:cNvPr id="8" name="그룹 7"/>
          <p:cNvGrpSpPr/>
          <p:nvPr/>
        </p:nvGrpSpPr>
        <p:grpSpPr>
          <a:xfrm>
            <a:off x="0" y="188640"/>
            <a:ext cx="8803817" cy="936104"/>
            <a:chOff x="0" y="188640"/>
            <a:chExt cx="8803817" cy="936104"/>
          </a:xfrm>
        </p:grpSpPr>
        <p:sp>
          <p:nvSpPr>
            <p:cNvPr id="9" name="자유형 8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24128" y="293747"/>
              <a:ext cx="307968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의 명령어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7704" y="1196752"/>
            <a:ext cx="7375609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Edit Vertices</a:t>
            </a:r>
          </a:p>
          <a:p>
            <a:pPr>
              <a:buClr>
                <a:schemeClr val="tx1"/>
              </a:buClr>
            </a:pPr>
            <a:endParaRPr lang="en-US" altLang="ko-K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 : </a:t>
            </a:r>
            <a:r>
              <a:rPr lang="ko-KR" altLang="en-US" b="1" dirty="0"/>
              <a:t>선택한 </a:t>
            </a:r>
            <a:r>
              <a:rPr lang="en-US" altLang="ko-KR" b="1" dirty="0"/>
              <a:t>Vertex</a:t>
            </a:r>
            <a:r>
              <a:rPr lang="ko-KR" altLang="en-US" b="1" dirty="0"/>
              <a:t>를 제거 </a:t>
            </a:r>
            <a:r>
              <a:rPr lang="en-US" altLang="ko-KR" b="1" dirty="0"/>
              <a:t>(</a:t>
            </a:r>
            <a:r>
              <a:rPr lang="en-US" altLang="ko-KR" b="1" dirty="0" err="1"/>
              <a:t>Ctr</a:t>
            </a:r>
            <a:r>
              <a:rPr lang="en-US" altLang="ko-KR" b="1" dirty="0"/>
              <a:t> </a:t>
            </a:r>
            <a:r>
              <a:rPr lang="en-US" altLang="ko-KR" b="1" dirty="0" err="1"/>
              <a:t>l+Back</a:t>
            </a:r>
            <a:r>
              <a:rPr lang="en-US" altLang="ko-KR" b="1" dirty="0"/>
              <a:t> Space)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Break : </a:t>
            </a:r>
            <a:r>
              <a:rPr lang="ko-KR" altLang="en-US" b="1" dirty="0"/>
              <a:t>연결된 </a:t>
            </a:r>
            <a:r>
              <a:rPr lang="en-US" altLang="ko-KR" b="1" dirty="0"/>
              <a:t>Vertex</a:t>
            </a:r>
            <a:r>
              <a:rPr lang="ko-KR" altLang="en-US" b="1" dirty="0"/>
              <a:t>를 분리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Extrude : </a:t>
            </a:r>
            <a:r>
              <a:rPr lang="en-US" altLang="ko-KR" b="1" dirty="0"/>
              <a:t>Vertex</a:t>
            </a:r>
            <a:r>
              <a:rPr lang="ko-KR" altLang="en-US" b="1" dirty="0"/>
              <a:t>에 높이 값을 주어 돌출 시킴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Weld : </a:t>
            </a:r>
            <a:r>
              <a:rPr lang="ko-KR" altLang="en-US" b="1" dirty="0"/>
              <a:t>분리된 </a:t>
            </a:r>
            <a:r>
              <a:rPr lang="en-US" altLang="ko-KR" b="1" dirty="0"/>
              <a:t>Vertex</a:t>
            </a:r>
            <a:r>
              <a:rPr lang="ko-KR" altLang="en-US" b="1" dirty="0"/>
              <a:t>를 지정한 범위 안에서 하나로 합침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Chamfer : </a:t>
            </a:r>
            <a:r>
              <a:rPr lang="en-US" altLang="ko-KR" b="1" dirty="0"/>
              <a:t>Vertex</a:t>
            </a:r>
            <a:r>
              <a:rPr lang="ko-KR" altLang="en-US" b="1" dirty="0"/>
              <a:t>에 연결된 선의 수만큼 다각면을 생성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 Weld : </a:t>
            </a:r>
            <a:r>
              <a:rPr lang="ko-KR" altLang="en-US" b="1" dirty="0"/>
              <a:t>한 개의 </a:t>
            </a:r>
            <a:r>
              <a:rPr lang="en-US" altLang="ko-KR" b="1" dirty="0"/>
              <a:t>Vertex</a:t>
            </a:r>
            <a:r>
              <a:rPr lang="ko-KR" altLang="en-US" b="1" dirty="0"/>
              <a:t>를 </a:t>
            </a:r>
            <a:r>
              <a:rPr lang="ko-KR" altLang="en-US" b="1" dirty="0" err="1"/>
              <a:t>선택후</a:t>
            </a:r>
            <a:r>
              <a:rPr lang="ko-KR" altLang="en-US" b="1" dirty="0"/>
              <a:t> 합치고자 하는 </a:t>
            </a:r>
            <a:r>
              <a:rPr lang="en-US" altLang="ko-KR" b="1" dirty="0"/>
              <a:t>Vertex</a:t>
            </a:r>
            <a:r>
              <a:rPr lang="ko-KR" altLang="en-US" b="1" dirty="0"/>
              <a:t>에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</a:t>
            </a:r>
            <a:r>
              <a:rPr lang="ko-KR" altLang="en-US" b="1" dirty="0"/>
              <a:t>드래그하여 합침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 : </a:t>
            </a:r>
            <a:r>
              <a:rPr lang="en-US" altLang="ko-KR" b="1" dirty="0"/>
              <a:t>Vertex</a:t>
            </a:r>
            <a:r>
              <a:rPr lang="ko-KR" altLang="en-US" b="1" dirty="0"/>
              <a:t>와 </a:t>
            </a:r>
            <a:r>
              <a:rPr lang="en-US" altLang="ko-KR" b="1" dirty="0"/>
              <a:t>Vertex</a:t>
            </a:r>
            <a:r>
              <a:rPr lang="ko-KR" altLang="en-US" b="1" dirty="0"/>
              <a:t>를 연결하여 새로운 </a:t>
            </a:r>
            <a:r>
              <a:rPr lang="en-US" altLang="ko-KR" b="1" dirty="0"/>
              <a:t>Edge</a:t>
            </a:r>
            <a:r>
              <a:rPr lang="ko-KR" altLang="en-US" b="1" dirty="0"/>
              <a:t>를 생성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</a:t>
            </a:r>
            <a:r>
              <a:rPr lang="ko-KR" altLang="en-US" b="1" dirty="0"/>
              <a:t>연결할 </a:t>
            </a:r>
            <a:r>
              <a:rPr lang="en-US" altLang="ko-KR" b="1" dirty="0"/>
              <a:t>Vertex</a:t>
            </a:r>
            <a:r>
              <a:rPr lang="ko-KR" altLang="en-US" b="1" dirty="0"/>
              <a:t>를 함께 선택 후 </a:t>
            </a:r>
            <a:r>
              <a:rPr lang="en-US" altLang="ko-KR" b="1" dirty="0"/>
              <a:t>Connect </a:t>
            </a:r>
            <a:r>
              <a:rPr lang="ko-KR" altLang="en-US" b="1" dirty="0"/>
              <a:t>클릭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 Isolated Vertices : </a:t>
            </a:r>
            <a:r>
              <a:rPr lang="en-US" altLang="ko-KR" b="1" dirty="0"/>
              <a:t>Polygon</a:t>
            </a:r>
            <a:r>
              <a:rPr lang="ko-KR" altLang="en-US" b="1" dirty="0"/>
              <a:t>에 속해 있지않은 </a:t>
            </a:r>
            <a:r>
              <a:rPr lang="en-US" altLang="ko-KR" b="1" dirty="0"/>
              <a:t>Vertex </a:t>
            </a:r>
            <a:r>
              <a:rPr lang="ko-KR" altLang="en-US" b="1" dirty="0"/>
              <a:t>삭제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 Unused Map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Verts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r>
              <a:rPr lang="en-US" altLang="ko-KR" b="1" dirty="0"/>
              <a:t>Unwrap UVW Modifier</a:t>
            </a:r>
            <a:r>
              <a:rPr lang="ko-KR" altLang="en-US" b="1" dirty="0"/>
              <a:t>를 사용했을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                   </a:t>
            </a:r>
            <a:r>
              <a:rPr lang="ko-KR" altLang="en-US" b="1" dirty="0"/>
              <a:t>경우 사용되지 않은 불필요한 </a:t>
            </a:r>
            <a:r>
              <a:rPr lang="en-US" altLang="ko-KR" b="1" dirty="0"/>
              <a:t>Vertex</a:t>
            </a:r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                   </a:t>
            </a:r>
            <a:r>
              <a:rPr lang="ko-KR" altLang="en-US" b="1" dirty="0"/>
              <a:t>삭제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Weight : </a:t>
            </a:r>
            <a:r>
              <a:rPr lang="en-US" altLang="ko-KR" b="1" dirty="0"/>
              <a:t>Use NURMS Subdivision</a:t>
            </a:r>
            <a:r>
              <a:rPr lang="ko-KR" altLang="en-US" b="1" dirty="0"/>
              <a:t>을 사용할 경우 가해지는 장력을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</a:t>
            </a:r>
            <a:r>
              <a:rPr lang="ko-KR" altLang="en-US" b="1" dirty="0"/>
              <a:t>지정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12" name="그림 11" descr="Pol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234537"/>
            <a:ext cx="1622997" cy="1963626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grpSp>
        <p:nvGrpSpPr>
          <p:cNvPr id="2" name="그룹 15"/>
          <p:cNvGrpSpPr/>
          <p:nvPr/>
        </p:nvGrpSpPr>
        <p:grpSpPr>
          <a:xfrm>
            <a:off x="0" y="188640"/>
            <a:ext cx="8038095" cy="936104"/>
            <a:chOff x="0" y="188640"/>
            <a:chExt cx="8038095" cy="936104"/>
          </a:xfrm>
        </p:grpSpPr>
        <p:sp>
          <p:nvSpPr>
            <p:cNvPr id="11" name="자유형 10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24128" y="293747"/>
              <a:ext cx="23139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-Vertex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8" name="그림 7" descr="rin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1520" y="3356992"/>
            <a:ext cx="1745661" cy="1416291"/>
          </a:xfrm>
          <a:prstGeom prst="rect">
            <a:avLst/>
          </a:prstGeom>
        </p:spPr>
      </p:pic>
      <p:pic>
        <p:nvPicPr>
          <p:cNvPr id="9" name="그림 8" descr="ring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504" y="4941168"/>
            <a:ext cx="1745661" cy="14162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7377" y="4437112"/>
            <a:ext cx="930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Extrude</a:t>
            </a:r>
            <a:endParaRPr lang="ko-KR" altLang="en-US" sz="16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65369" y="6004556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Chamfer</a:t>
            </a:r>
            <a:endParaRPr lang="ko-KR" altLang="en-US" sz="16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7704" y="1196752"/>
            <a:ext cx="7232942" cy="5601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Edit Edge</a:t>
            </a:r>
          </a:p>
          <a:p>
            <a:pPr>
              <a:buClr>
                <a:schemeClr val="tx1"/>
              </a:buClr>
            </a:pPr>
            <a:endParaRPr lang="en-US" altLang="ko-K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Insert Vertex : </a:t>
            </a:r>
            <a:r>
              <a:rPr lang="en-US" altLang="ko-KR" b="1" dirty="0"/>
              <a:t>Edge</a:t>
            </a:r>
            <a:r>
              <a:rPr lang="ko-KR" altLang="en-US" b="1" dirty="0"/>
              <a:t>상에 </a:t>
            </a:r>
            <a:r>
              <a:rPr lang="en-US" altLang="ko-KR" b="1" dirty="0"/>
              <a:t>Vertex</a:t>
            </a:r>
            <a:r>
              <a:rPr lang="ko-KR" altLang="en-US" b="1" dirty="0"/>
              <a:t>를 추가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Remove : </a:t>
            </a:r>
            <a:r>
              <a:rPr lang="ko-KR" altLang="en-US" b="1" dirty="0"/>
              <a:t>선택된 </a:t>
            </a:r>
            <a:r>
              <a:rPr lang="en-US" altLang="ko-KR" b="1" dirty="0"/>
              <a:t>Edge </a:t>
            </a:r>
            <a:r>
              <a:rPr lang="ko-KR" altLang="en-US" b="1" dirty="0"/>
              <a:t>삭제 </a:t>
            </a:r>
            <a:r>
              <a:rPr lang="en-US" altLang="ko-KR" b="1" dirty="0"/>
              <a:t>(</a:t>
            </a:r>
            <a:r>
              <a:rPr lang="en-US" altLang="ko-KR" b="1" dirty="0" err="1"/>
              <a:t>Ctrl+Back</a:t>
            </a:r>
            <a:r>
              <a:rPr lang="en-US" altLang="ko-KR" b="1" dirty="0"/>
              <a:t> Space </a:t>
            </a:r>
            <a:r>
              <a:rPr lang="en-US" altLang="ko-KR" b="1" dirty="0">
                <a:sym typeface="Wingdings" pitchFamily="2" charset="2"/>
              </a:rPr>
              <a:t></a:t>
            </a:r>
            <a:r>
              <a:rPr lang="ko-KR" altLang="en-US" b="1" dirty="0"/>
              <a:t> </a:t>
            </a:r>
            <a:r>
              <a:rPr lang="en-US" altLang="ko-KR" b="1" dirty="0"/>
              <a:t>Vertex</a:t>
            </a:r>
            <a:r>
              <a:rPr lang="ko-KR" altLang="en-US" b="1" dirty="0"/>
              <a:t>까지</a:t>
            </a:r>
            <a:r>
              <a:rPr lang="en-US" altLang="ko-KR" b="1" dirty="0"/>
              <a:t>)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Split : </a:t>
            </a:r>
            <a:r>
              <a:rPr lang="en-US" altLang="ko-KR" b="1" dirty="0"/>
              <a:t>Border</a:t>
            </a:r>
            <a:r>
              <a:rPr lang="ko-KR" altLang="en-US" b="1" dirty="0"/>
              <a:t>에 접해있는 </a:t>
            </a:r>
            <a:r>
              <a:rPr lang="en-US" altLang="ko-KR" b="1" dirty="0"/>
              <a:t>Edge</a:t>
            </a:r>
            <a:r>
              <a:rPr lang="ko-KR" altLang="en-US" b="1" dirty="0"/>
              <a:t>분리 </a:t>
            </a:r>
            <a:r>
              <a:rPr lang="en-US" altLang="ko-KR" b="1" dirty="0"/>
              <a:t>(2</a:t>
            </a:r>
            <a:r>
              <a:rPr lang="ko-KR" altLang="en-US" b="1" dirty="0"/>
              <a:t>개 이상의 연결된</a:t>
            </a:r>
            <a:r>
              <a:rPr lang="en-US" altLang="ko-KR" b="1" dirty="0"/>
              <a:t> Edge)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Extrude : </a:t>
            </a:r>
            <a:r>
              <a:rPr lang="ko-KR" altLang="en-US" b="1" dirty="0"/>
              <a:t>선택된 </a:t>
            </a:r>
            <a:r>
              <a:rPr lang="en-US" altLang="ko-KR" b="1" dirty="0"/>
              <a:t>Edge</a:t>
            </a:r>
            <a:r>
              <a:rPr lang="ko-KR" altLang="en-US" b="1" dirty="0"/>
              <a:t>를</a:t>
            </a:r>
            <a:r>
              <a:rPr lang="en-US" altLang="ko-KR" b="1" dirty="0"/>
              <a:t> </a:t>
            </a:r>
            <a:r>
              <a:rPr lang="ko-KR" altLang="en-US" b="1" dirty="0"/>
              <a:t>돌출 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Weld : </a:t>
            </a:r>
            <a:r>
              <a:rPr lang="en-US" altLang="ko-KR" b="1" dirty="0"/>
              <a:t>Border</a:t>
            </a:r>
            <a:r>
              <a:rPr lang="ko-KR" altLang="en-US" b="1" dirty="0"/>
              <a:t>상의 </a:t>
            </a:r>
            <a:r>
              <a:rPr lang="en-US" altLang="ko-KR" b="1" dirty="0"/>
              <a:t>Edge</a:t>
            </a:r>
            <a:r>
              <a:rPr lang="ko-KR" altLang="en-US" b="1" dirty="0"/>
              <a:t>를 지정한 한도 내에서 하나로 합침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(</a:t>
            </a:r>
            <a:r>
              <a:rPr lang="ko-KR" altLang="en-US" b="1" dirty="0"/>
              <a:t>합쳐지는 면은 없어야 함</a:t>
            </a:r>
            <a:r>
              <a:rPr lang="en-US" altLang="ko-KR" b="1" dirty="0"/>
              <a:t>)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Chamfer : </a:t>
            </a:r>
            <a:r>
              <a:rPr lang="ko-KR" altLang="en-US" b="1" dirty="0"/>
              <a:t>선택된 </a:t>
            </a:r>
            <a:r>
              <a:rPr lang="en-US" altLang="ko-KR" b="1" dirty="0"/>
              <a:t>Edge</a:t>
            </a:r>
            <a:r>
              <a:rPr lang="ko-KR" altLang="en-US" b="1" dirty="0"/>
              <a:t>를 </a:t>
            </a:r>
            <a:r>
              <a:rPr lang="ko-KR" altLang="en-US" b="1" dirty="0" err="1"/>
              <a:t>모깎기</a:t>
            </a:r>
            <a:r>
              <a:rPr lang="ko-KR" altLang="en-US" b="1" dirty="0"/>
              <a:t> 함 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(</a:t>
            </a:r>
            <a:r>
              <a:rPr lang="ko-KR" altLang="en-US" b="1" dirty="0" err="1"/>
              <a:t>세팅박스에</a:t>
            </a:r>
            <a:r>
              <a:rPr lang="ko-KR" altLang="en-US" b="1" dirty="0"/>
              <a:t>        체크하면 생성된 면이 삭제</a:t>
            </a:r>
            <a:r>
              <a:rPr lang="en-US" altLang="ko-KR" b="1" dirty="0"/>
              <a:t>)  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Target Weld : </a:t>
            </a:r>
            <a:r>
              <a:rPr lang="en-US" altLang="ko-KR" b="1" dirty="0"/>
              <a:t>Edge</a:t>
            </a:r>
            <a:r>
              <a:rPr lang="ko-KR" altLang="en-US" b="1" dirty="0"/>
              <a:t>를 선택하여 합치고자 하는 </a:t>
            </a:r>
            <a:r>
              <a:rPr lang="en-US" altLang="ko-KR" b="1" dirty="0"/>
              <a:t>Edge</a:t>
            </a:r>
            <a:r>
              <a:rPr lang="ko-KR" altLang="en-US" b="1" dirty="0"/>
              <a:t>에 드래그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 : </a:t>
            </a:r>
            <a:r>
              <a:rPr lang="ko-KR" altLang="en-US" b="1" dirty="0"/>
              <a:t>선택된 </a:t>
            </a:r>
            <a:r>
              <a:rPr lang="en-US" altLang="ko-KR" b="1" dirty="0"/>
              <a:t>Edge </a:t>
            </a:r>
            <a:r>
              <a:rPr lang="ko-KR" altLang="en-US" b="1" dirty="0"/>
              <a:t>사이를 연결하는 새로운 </a:t>
            </a:r>
            <a:r>
              <a:rPr lang="en-US" altLang="ko-KR" b="1" dirty="0"/>
              <a:t>Edge</a:t>
            </a:r>
            <a:r>
              <a:rPr lang="ko-KR" altLang="en-US" b="1" dirty="0"/>
              <a:t> 생성 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Shape From Selection : </a:t>
            </a:r>
            <a:r>
              <a:rPr lang="ko-KR" altLang="en-US" b="1" dirty="0"/>
              <a:t>선택된 </a:t>
            </a:r>
            <a:r>
              <a:rPr lang="en-US" altLang="ko-KR" b="1" dirty="0"/>
              <a:t>Edge</a:t>
            </a:r>
            <a:r>
              <a:rPr lang="ko-KR" altLang="en-US" b="1" dirty="0"/>
              <a:t>로 </a:t>
            </a:r>
            <a:r>
              <a:rPr lang="ko-KR" altLang="en-US" b="1" dirty="0" err="1"/>
              <a:t>부터</a:t>
            </a:r>
            <a:r>
              <a:rPr lang="ko-KR" altLang="en-US" b="1" dirty="0"/>
              <a:t> 새로운 </a:t>
            </a:r>
            <a:r>
              <a:rPr lang="en-US" altLang="ko-KR" b="1" dirty="0"/>
              <a:t>Edge</a:t>
            </a:r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                      </a:t>
            </a:r>
            <a:r>
              <a:rPr lang="ko-KR" altLang="en-US" b="1" dirty="0"/>
              <a:t>가 동일한 위치에 겹쳐져 생성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Edit Tri. : </a:t>
            </a:r>
            <a:r>
              <a:rPr lang="en-US" altLang="ko-KR" b="1" dirty="0"/>
              <a:t>Polygon</a:t>
            </a:r>
            <a:r>
              <a:rPr lang="ko-KR" altLang="en-US" b="1" dirty="0"/>
              <a:t>의 내부 삼각형 편집</a:t>
            </a:r>
            <a:r>
              <a:rPr lang="en-US" altLang="ko-KR" b="1" dirty="0"/>
              <a:t>. </a:t>
            </a:r>
            <a:r>
              <a:rPr lang="ko-KR" altLang="en-US" b="1" dirty="0"/>
              <a:t>버튼을 선택 후 다각형의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</a:t>
            </a:r>
            <a:r>
              <a:rPr lang="ko-KR" altLang="en-US" b="1" dirty="0"/>
              <a:t>두 </a:t>
            </a:r>
            <a:r>
              <a:rPr lang="ko-KR" altLang="en-US" b="1" dirty="0" err="1"/>
              <a:t>가장가리를</a:t>
            </a:r>
            <a:r>
              <a:rPr lang="ko-KR" altLang="en-US" b="1" dirty="0"/>
              <a:t> 클릭하여 삼각형 방향 편집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Turn : </a:t>
            </a:r>
            <a:r>
              <a:rPr lang="en-US" altLang="ko-KR" b="1" dirty="0"/>
              <a:t>Polygon </a:t>
            </a:r>
            <a:r>
              <a:rPr lang="ko-KR" altLang="en-US" b="1" dirty="0"/>
              <a:t>내부의 </a:t>
            </a:r>
            <a:r>
              <a:rPr lang="en-US" altLang="ko-KR" b="1" dirty="0"/>
              <a:t>Edge</a:t>
            </a:r>
            <a:r>
              <a:rPr lang="ko-KR" altLang="en-US" b="1" dirty="0"/>
              <a:t>를 돌림</a:t>
            </a:r>
            <a:r>
              <a:rPr lang="en-US" altLang="ko-KR" b="1" dirty="0"/>
              <a:t>. </a:t>
            </a:r>
            <a:r>
              <a:rPr lang="ko-KR" altLang="en-US" b="1" dirty="0"/>
              <a:t>형태가 틀어질 때 삼각형 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</a:t>
            </a:r>
            <a:r>
              <a:rPr lang="ko-KR" altLang="en-US" b="1" dirty="0"/>
              <a:t>점선을 클릭하여 면을 돌려가며 부드럽게 맞춤</a:t>
            </a:r>
            <a:r>
              <a:rPr lang="en-US" altLang="ko-KR" b="1" dirty="0"/>
              <a:t>.</a:t>
            </a:r>
          </a:p>
          <a:p>
            <a:pPr>
              <a:buClr>
                <a:schemeClr val="tx1"/>
              </a:buClr>
            </a:pPr>
            <a:r>
              <a:rPr lang="ko-KR" altLang="en-US" b="1" dirty="0"/>
              <a:t>          버튼을 선택한 후 회전하고자 하는 선을 클릭</a:t>
            </a:r>
            <a:endParaRPr lang="en-US" altLang="ko-KR" dirty="0"/>
          </a:p>
          <a:p>
            <a:endParaRPr lang="en-US" altLang="ko-KR" dirty="0"/>
          </a:p>
        </p:txBody>
      </p:sp>
      <p:grpSp>
        <p:nvGrpSpPr>
          <p:cNvPr id="2" name="그룹 15"/>
          <p:cNvGrpSpPr/>
          <p:nvPr/>
        </p:nvGrpSpPr>
        <p:grpSpPr>
          <a:xfrm>
            <a:off x="0" y="188640"/>
            <a:ext cx="7603169" cy="936104"/>
            <a:chOff x="0" y="188640"/>
            <a:chExt cx="7603169" cy="936104"/>
          </a:xfrm>
        </p:grpSpPr>
        <p:sp>
          <p:nvSpPr>
            <p:cNvPr id="11" name="자유형 10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24128" y="293747"/>
              <a:ext cx="187904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-Edge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8" name="그림 7" descr="r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520" y="3789040"/>
            <a:ext cx="1745661" cy="1416291"/>
          </a:xfrm>
          <a:prstGeom prst="rect">
            <a:avLst/>
          </a:prstGeom>
        </p:spPr>
      </p:pic>
      <p:pic>
        <p:nvPicPr>
          <p:cNvPr id="18" name="그림 17" descr="Poly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230975"/>
            <a:ext cx="1610689" cy="2376264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pic>
        <p:nvPicPr>
          <p:cNvPr id="1026" name="Picture 2" descr="C:\Documents and Settings\Administrator\바탕 화면\2013_2학기_세미나_자료\이미지\K-2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3717032"/>
            <a:ext cx="457200" cy="209550"/>
          </a:xfrm>
          <a:prstGeom prst="rect">
            <a:avLst/>
          </a:prstGeom>
          <a:noFill/>
        </p:spPr>
      </p:pic>
      <p:pic>
        <p:nvPicPr>
          <p:cNvPr id="19" name="그림 18" descr="r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7504" y="5373216"/>
            <a:ext cx="1745661" cy="14162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56795" y="6445587"/>
            <a:ext cx="61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Turn</a:t>
            </a:r>
            <a:endParaRPr lang="ko-KR" altLang="en-US" sz="16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858580" y="4867399"/>
            <a:ext cx="1011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Chamfer</a:t>
            </a:r>
            <a:endParaRPr lang="ko-KR" altLang="en-US" sz="1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7704" y="1196752"/>
            <a:ext cx="703590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Edit Border :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열린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의 집합체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</a:pPr>
            <a:endParaRPr lang="en-US" altLang="ko-K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Extrude : </a:t>
            </a:r>
            <a:r>
              <a:rPr lang="ko-KR" altLang="en-US" b="1" dirty="0"/>
              <a:t>버튼을 클릭 후 테두리 위에서 수직으로 드래그 하여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</a:t>
            </a:r>
            <a:r>
              <a:rPr lang="ko-KR" altLang="en-US" b="1" dirty="0"/>
              <a:t>테두리를 돌출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 Vertex : </a:t>
            </a:r>
            <a:r>
              <a:rPr lang="ko-KR" altLang="en-US" b="1" dirty="0"/>
              <a:t>테두리를 클릭하여 해당 위치에 </a:t>
            </a:r>
            <a:r>
              <a:rPr lang="en-US" altLang="ko-KR" b="1" dirty="0"/>
              <a:t>Vertex </a:t>
            </a:r>
            <a:r>
              <a:rPr lang="ko-KR" altLang="en-US" b="1" dirty="0"/>
              <a:t>추가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Chamfer : </a:t>
            </a:r>
            <a:r>
              <a:rPr lang="ko-KR" altLang="en-US" b="1" dirty="0"/>
              <a:t>일정한 두께로 </a:t>
            </a:r>
            <a:r>
              <a:rPr lang="en-US" altLang="ko-KR" b="1" dirty="0"/>
              <a:t>Edge </a:t>
            </a:r>
            <a:r>
              <a:rPr lang="ko-KR" altLang="en-US" b="1" dirty="0"/>
              <a:t>생성</a:t>
            </a:r>
            <a:endParaRPr lang="en-US" altLang="ko-KR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Cap : </a:t>
            </a:r>
            <a:r>
              <a:rPr lang="ko-KR" altLang="en-US" b="1" dirty="0"/>
              <a:t>열려있는 테두리 루프를 </a:t>
            </a:r>
            <a:r>
              <a:rPr lang="en-US" altLang="ko-KR" b="1" dirty="0"/>
              <a:t>Polygon</a:t>
            </a:r>
            <a:r>
              <a:rPr lang="ko-KR" altLang="en-US" b="1" dirty="0"/>
              <a:t>으로 </a:t>
            </a:r>
            <a:r>
              <a:rPr lang="ko-KR" altLang="en-US" b="1" dirty="0" err="1"/>
              <a:t>만듬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Bridge : </a:t>
            </a:r>
            <a:r>
              <a:rPr lang="ko-KR" altLang="en-US" b="1" dirty="0"/>
              <a:t>테두리와 테두리를 연결하여 </a:t>
            </a:r>
            <a:r>
              <a:rPr lang="en-US" altLang="ko-KR" b="1" dirty="0"/>
              <a:t>Polygon</a:t>
            </a:r>
            <a:r>
              <a:rPr lang="ko-KR" altLang="en-US" b="1" dirty="0"/>
              <a:t>을 생성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 : </a:t>
            </a:r>
            <a:r>
              <a:rPr lang="ko-KR" altLang="en-US" b="1" dirty="0"/>
              <a:t>테두리와 테두리와 테두리를 연결하는 새로운 </a:t>
            </a:r>
            <a:r>
              <a:rPr lang="en-US" altLang="ko-KR" b="1" dirty="0"/>
              <a:t>Edge</a:t>
            </a:r>
            <a:r>
              <a:rPr lang="ko-KR" altLang="en-US" b="1" dirty="0"/>
              <a:t>를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</a:t>
            </a:r>
            <a:r>
              <a:rPr lang="ko-KR" altLang="en-US" b="1" dirty="0"/>
              <a:t>생성</a:t>
            </a:r>
            <a:endParaRPr lang="en-US" altLang="ko-KR" b="1" dirty="0"/>
          </a:p>
          <a:p>
            <a:pPr>
              <a:buClr>
                <a:schemeClr val="tx1"/>
              </a:buClr>
            </a:pPr>
            <a:endParaRPr lang="en-US" altLang="ko-KR" b="1" dirty="0"/>
          </a:p>
        </p:txBody>
      </p:sp>
      <p:grpSp>
        <p:nvGrpSpPr>
          <p:cNvPr id="2" name="그룹 15"/>
          <p:cNvGrpSpPr/>
          <p:nvPr/>
        </p:nvGrpSpPr>
        <p:grpSpPr>
          <a:xfrm>
            <a:off x="0" y="188640"/>
            <a:ext cx="8141969" cy="936104"/>
            <a:chOff x="0" y="188640"/>
            <a:chExt cx="8141969" cy="936104"/>
          </a:xfrm>
        </p:grpSpPr>
        <p:sp>
          <p:nvSpPr>
            <p:cNvPr id="11" name="자유형 10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24128" y="293747"/>
              <a:ext cx="241784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-Border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8" name="그림 17" descr="Pol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234414"/>
            <a:ext cx="1610689" cy="1978562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grpSp>
        <p:nvGrpSpPr>
          <p:cNvPr id="17" name="그룹 16"/>
          <p:cNvGrpSpPr/>
          <p:nvPr/>
        </p:nvGrpSpPr>
        <p:grpSpPr>
          <a:xfrm>
            <a:off x="2555776" y="3972039"/>
            <a:ext cx="1834423" cy="2841337"/>
            <a:chOff x="35496" y="3429000"/>
            <a:chExt cx="1834423" cy="2841337"/>
          </a:xfrm>
        </p:grpSpPr>
        <p:pic>
          <p:nvPicPr>
            <p:cNvPr id="12" name="그림 11" descr="ring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947" y="4854046"/>
              <a:ext cx="1745661" cy="1416291"/>
            </a:xfrm>
            <a:prstGeom prst="rect">
              <a:avLst/>
            </a:prstGeom>
          </p:spPr>
        </p:pic>
        <p:pic>
          <p:nvPicPr>
            <p:cNvPr id="8" name="그림 7" descr="ring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520" y="3429000"/>
              <a:ext cx="1745661" cy="141629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313356" y="5921429"/>
              <a:ext cx="5565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Cap</a:t>
              </a:r>
              <a:endParaRPr lang="ko-KR" altLang="en-US" sz="1600" b="1" dirty="0"/>
            </a:p>
          </p:txBody>
        </p:sp>
        <p:sp>
          <p:nvSpPr>
            <p:cNvPr id="16" name="오른쪽으로 구부러진 화살표 15"/>
            <p:cNvSpPr/>
            <p:nvPr/>
          </p:nvSpPr>
          <p:spPr>
            <a:xfrm>
              <a:off x="35496" y="4437112"/>
              <a:ext cx="432048" cy="79208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644008" y="3972039"/>
            <a:ext cx="1829875" cy="2841337"/>
            <a:chOff x="3851920" y="3972039"/>
            <a:chExt cx="1829875" cy="2841337"/>
          </a:xfrm>
        </p:grpSpPr>
        <p:pic>
          <p:nvPicPr>
            <p:cNvPr id="20" name="그림 19" descr="ring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6371" y="5397085"/>
              <a:ext cx="1745661" cy="1416291"/>
            </a:xfrm>
            <a:prstGeom prst="rect">
              <a:avLst/>
            </a:prstGeom>
          </p:spPr>
        </p:pic>
        <p:pic>
          <p:nvPicPr>
            <p:cNvPr id="21" name="그림 20" descr="ring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7944" y="3972039"/>
              <a:ext cx="1745661" cy="1416291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4860032" y="6464468"/>
              <a:ext cx="8217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Bridge</a:t>
              </a:r>
              <a:endParaRPr lang="ko-KR" altLang="en-US" sz="1600" b="1" dirty="0"/>
            </a:p>
          </p:txBody>
        </p:sp>
        <p:sp>
          <p:nvSpPr>
            <p:cNvPr id="23" name="오른쪽으로 구부러진 화살표 22"/>
            <p:cNvSpPr/>
            <p:nvPr/>
          </p:nvSpPr>
          <p:spPr>
            <a:xfrm>
              <a:off x="3851920" y="4980151"/>
              <a:ext cx="432048" cy="79208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6767016" y="3972039"/>
            <a:ext cx="1770501" cy="2841337"/>
            <a:chOff x="6767016" y="3972039"/>
            <a:chExt cx="1770501" cy="2841337"/>
          </a:xfrm>
        </p:grpSpPr>
        <p:pic>
          <p:nvPicPr>
            <p:cNvPr id="24" name="그림 23" descr="ring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7016" y="5397085"/>
              <a:ext cx="1745661" cy="1416291"/>
            </a:xfrm>
            <a:prstGeom prst="rect">
              <a:avLst/>
            </a:prstGeom>
          </p:spPr>
        </p:pic>
        <p:pic>
          <p:nvPicPr>
            <p:cNvPr id="25" name="그림 24" descr="ring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8589" y="3972039"/>
              <a:ext cx="1745661" cy="1416291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554556" y="6464468"/>
              <a:ext cx="9829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dirty="0"/>
                <a:t>Connect</a:t>
              </a:r>
              <a:endParaRPr lang="ko-KR" altLang="en-US" sz="1600" b="1" dirty="0"/>
            </a:p>
          </p:txBody>
        </p:sp>
        <p:sp>
          <p:nvSpPr>
            <p:cNvPr id="27" name="오른쪽으로 구부러진 화살표 26"/>
            <p:cNvSpPr/>
            <p:nvPr/>
          </p:nvSpPr>
          <p:spPr>
            <a:xfrm>
              <a:off x="7278629" y="4980151"/>
              <a:ext cx="432048" cy="79208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5"/>
          <p:cNvGrpSpPr/>
          <p:nvPr/>
        </p:nvGrpSpPr>
        <p:grpSpPr>
          <a:xfrm>
            <a:off x="0" y="188640"/>
            <a:ext cx="8536308" cy="936104"/>
            <a:chOff x="0" y="188640"/>
            <a:chExt cx="8536308" cy="936104"/>
          </a:xfrm>
        </p:grpSpPr>
        <p:sp>
          <p:nvSpPr>
            <p:cNvPr id="11" name="자유형 10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24128" y="293747"/>
              <a:ext cx="28121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-Polygon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8" name="그림 7" descr="r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520" y="3501008"/>
            <a:ext cx="1745661" cy="14162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6652" y="4569576"/>
            <a:ext cx="930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Extrude</a:t>
            </a:r>
            <a:endParaRPr lang="ko-KR" altLang="en-US" sz="1600" b="1" dirty="0"/>
          </a:p>
        </p:txBody>
      </p:sp>
      <p:pic>
        <p:nvPicPr>
          <p:cNvPr id="18" name="그림 17" descr="Poly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235497"/>
            <a:ext cx="1610689" cy="2065239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907704" y="1196752"/>
            <a:ext cx="732283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Edit Polygons</a:t>
            </a:r>
          </a:p>
          <a:p>
            <a:pPr>
              <a:buClr>
                <a:schemeClr val="tx1"/>
              </a:buClr>
            </a:pPr>
            <a:endParaRPr lang="en-US" altLang="ko-K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 Vertex : </a:t>
            </a:r>
            <a:r>
              <a:rPr lang="en-US" altLang="ko-KR" b="1" dirty="0"/>
              <a:t>Polygon</a:t>
            </a:r>
            <a:r>
              <a:rPr lang="ko-KR" altLang="en-US" b="1" dirty="0"/>
              <a:t>에 </a:t>
            </a:r>
            <a:r>
              <a:rPr lang="en-US" altLang="ko-KR" b="1" dirty="0"/>
              <a:t>vertex</a:t>
            </a:r>
            <a:r>
              <a:rPr lang="ko-KR" altLang="en-US" b="1" dirty="0"/>
              <a:t>를 추가하여 면을 세분화 하며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</a:t>
            </a:r>
            <a:r>
              <a:rPr lang="ko-KR" altLang="en-US" b="1" dirty="0"/>
              <a:t>명령이 활성화된 상태에서는 지속적인 사용 가능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Extrude : </a:t>
            </a:r>
            <a:r>
              <a:rPr lang="ko-KR" altLang="en-US" b="1" dirty="0"/>
              <a:t>선택된 면을 수치의 증감에 따라 돌출</a:t>
            </a:r>
            <a:r>
              <a:rPr lang="en-US" altLang="ko-KR" b="1" dirty="0"/>
              <a:t>/</a:t>
            </a:r>
            <a:r>
              <a:rPr lang="ko-KR" altLang="en-US" b="1" dirty="0"/>
              <a:t>몰입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</a:t>
            </a:r>
            <a:r>
              <a:rPr lang="ko-KR" altLang="en-US" b="1" dirty="0" err="1"/>
              <a:t>다중면을</a:t>
            </a:r>
            <a:r>
              <a:rPr lang="ko-KR" altLang="en-US" b="1" dirty="0"/>
              <a:t> 한 번에 돌출</a:t>
            </a:r>
            <a:r>
              <a:rPr lang="en-US" altLang="ko-KR" b="1" dirty="0"/>
              <a:t>/</a:t>
            </a:r>
            <a:r>
              <a:rPr lang="ko-KR" altLang="en-US" b="1" dirty="0"/>
              <a:t>몰입 시키고자 </a:t>
            </a:r>
            <a:r>
              <a:rPr lang="ko-KR" altLang="en-US" b="1" dirty="0" err="1"/>
              <a:t>할때는</a:t>
            </a:r>
            <a:r>
              <a:rPr lang="ko-KR" altLang="en-US" b="1" dirty="0"/>
              <a:t> </a:t>
            </a:r>
            <a:r>
              <a:rPr lang="en-US" altLang="ko-KR" b="1" dirty="0"/>
              <a:t>Ctrl</a:t>
            </a:r>
            <a:r>
              <a:rPr lang="ko-KR" altLang="en-US" b="1" dirty="0"/>
              <a:t>을 누른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</a:t>
            </a:r>
            <a:r>
              <a:rPr lang="ko-KR" altLang="en-US" b="1" dirty="0"/>
              <a:t>상태에서 면을 다중선택 후 실행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Outline : </a:t>
            </a:r>
            <a:r>
              <a:rPr lang="en-US" altLang="ko-KR" b="1" dirty="0"/>
              <a:t>Amount </a:t>
            </a:r>
            <a:r>
              <a:rPr lang="ko-KR" altLang="en-US" b="1" dirty="0"/>
              <a:t>수치의 증감에 따라 선택된 면을 축소</a:t>
            </a:r>
            <a:r>
              <a:rPr lang="en-US" altLang="ko-KR" b="1" dirty="0"/>
              <a:t>/</a:t>
            </a:r>
            <a:r>
              <a:rPr lang="ko-KR" altLang="en-US" b="1" dirty="0"/>
              <a:t>확대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Bevel : </a:t>
            </a:r>
            <a:r>
              <a:rPr lang="ko-KR" altLang="en-US" b="1" dirty="0"/>
              <a:t>선택된 </a:t>
            </a:r>
            <a:r>
              <a:rPr lang="en-US" altLang="ko-KR" b="1" dirty="0"/>
              <a:t>Polygon</a:t>
            </a:r>
            <a:r>
              <a:rPr lang="ko-KR" altLang="en-US" b="1" dirty="0"/>
              <a:t>을 </a:t>
            </a:r>
            <a:r>
              <a:rPr lang="en-US" altLang="ko-KR" b="1" dirty="0"/>
              <a:t>Extrude</a:t>
            </a:r>
            <a:r>
              <a:rPr lang="ko-KR" altLang="en-US" b="1" dirty="0"/>
              <a:t>와 </a:t>
            </a:r>
            <a:r>
              <a:rPr lang="en-US" altLang="ko-KR" b="1" dirty="0"/>
              <a:t>Outline</a:t>
            </a:r>
            <a:r>
              <a:rPr lang="ko-KR" altLang="en-US" b="1" dirty="0"/>
              <a:t>을 함께 실행</a:t>
            </a:r>
            <a:endParaRPr lang="en-US" altLang="ko-KR" b="1" dirty="0"/>
          </a:p>
        </p:txBody>
      </p:sp>
      <p:pic>
        <p:nvPicPr>
          <p:cNvPr id="16" name="그림 15" descr="ring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621" y="5101304"/>
            <a:ext cx="1745661" cy="14162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1600" y="6165304"/>
            <a:ext cx="89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Outline</a:t>
            </a:r>
            <a:endParaRPr lang="ko-KR" altLang="en-US" sz="16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5"/>
          <p:cNvGrpSpPr/>
          <p:nvPr/>
        </p:nvGrpSpPr>
        <p:grpSpPr>
          <a:xfrm>
            <a:off x="0" y="188640"/>
            <a:ext cx="8536308" cy="936104"/>
            <a:chOff x="0" y="188640"/>
            <a:chExt cx="8536308" cy="936104"/>
          </a:xfrm>
        </p:grpSpPr>
        <p:sp>
          <p:nvSpPr>
            <p:cNvPr id="11" name="자유형 10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24128" y="293747"/>
              <a:ext cx="28121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-Polygon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8" name="그림 7" descr="r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520" y="3501008"/>
            <a:ext cx="1745661" cy="14162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0871" y="4581128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Inset</a:t>
            </a:r>
            <a:endParaRPr lang="ko-KR" altLang="en-US" sz="1600" b="1" dirty="0"/>
          </a:p>
        </p:txBody>
      </p:sp>
      <p:pic>
        <p:nvPicPr>
          <p:cNvPr id="18" name="그림 17" descr="Poly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235497"/>
            <a:ext cx="1610689" cy="2065239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907704" y="1196752"/>
            <a:ext cx="7341497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Edit Polygons</a:t>
            </a:r>
          </a:p>
          <a:p>
            <a:pPr>
              <a:buClr>
                <a:schemeClr val="tx1"/>
              </a:buClr>
            </a:pPr>
            <a:endParaRPr lang="en-US" altLang="ko-K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Inset : </a:t>
            </a:r>
            <a:r>
              <a:rPr lang="en-US" altLang="ko-KR" b="1" dirty="0"/>
              <a:t>Polygon </a:t>
            </a:r>
            <a:r>
              <a:rPr lang="ko-KR" altLang="en-US" b="1" dirty="0"/>
              <a:t>면 안에 높이값이 없는 </a:t>
            </a:r>
            <a:r>
              <a:rPr lang="en-US" altLang="ko-KR" b="1" dirty="0"/>
              <a:t>Bevel </a:t>
            </a:r>
            <a:r>
              <a:rPr lang="ko-KR" altLang="en-US" b="1" dirty="0"/>
              <a:t>명령을 실행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</a:t>
            </a:r>
            <a:r>
              <a:rPr lang="ko-KR" altLang="en-US" b="1" dirty="0"/>
              <a:t>선택하고자 하는 </a:t>
            </a:r>
            <a:r>
              <a:rPr lang="en-US" altLang="ko-KR" b="1" dirty="0"/>
              <a:t>Polygon </a:t>
            </a:r>
            <a:r>
              <a:rPr lang="ko-KR" altLang="en-US" b="1" dirty="0"/>
              <a:t>위로 마우스 커서를 가져가서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</a:t>
            </a:r>
            <a:r>
              <a:rPr lang="ko-KR" altLang="en-US" b="1" dirty="0"/>
              <a:t>삽입 커서가 변경될 때 드래그하여 실행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Bridge : </a:t>
            </a:r>
            <a:r>
              <a:rPr lang="ko-KR" altLang="en-US" b="1" dirty="0"/>
              <a:t>선택된 두 개의 </a:t>
            </a:r>
            <a:r>
              <a:rPr lang="en-US" altLang="ko-KR" b="1" dirty="0"/>
              <a:t>Polygon</a:t>
            </a:r>
            <a:r>
              <a:rPr lang="ko-KR" altLang="en-US" b="1" dirty="0"/>
              <a:t>을 연결하는 </a:t>
            </a:r>
            <a:r>
              <a:rPr lang="en-US" altLang="ko-KR" b="1" dirty="0"/>
              <a:t>Polygon</a:t>
            </a:r>
            <a:r>
              <a:rPr lang="ko-KR" altLang="en-US" b="1" dirty="0"/>
              <a:t>을</a:t>
            </a:r>
            <a:r>
              <a:rPr lang="en-US" altLang="ko-KR" b="1" dirty="0"/>
              <a:t> </a:t>
            </a:r>
            <a:r>
              <a:rPr lang="ko-KR" altLang="en-US" b="1" dirty="0" err="1"/>
              <a:t>만듬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-Use Specific Polygon : </a:t>
            </a:r>
            <a:r>
              <a:rPr lang="ko-KR" altLang="en-US" b="1" dirty="0"/>
              <a:t>선택된 면을 무시하고 대화상자를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                      </a:t>
            </a:r>
            <a:r>
              <a:rPr lang="ko-KR" altLang="en-US" b="1" dirty="0"/>
              <a:t>통해 면을 선택할 수 있음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-Use Polygon Selection : </a:t>
            </a:r>
            <a:r>
              <a:rPr lang="ko-KR" altLang="en-US" b="1" dirty="0"/>
              <a:t>현재 선택된 면을 이용하여 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                        Bridge </a:t>
            </a:r>
            <a:r>
              <a:rPr lang="ko-KR" altLang="en-US" b="1" dirty="0"/>
              <a:t>명령을 실행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Flip : </a:t>
            </a:r>
            <a:r>
              <a:rPr lang="en-US" altLang="ko-KR" b="1" dirty="0"/>
              <a:t>Polygon</a:t>
            </a:r>
            <a:r>
              <a:rPr lang="ko-KR" altLang="en-US" b="1" dirty="0"/>
              <a:t>의 방향을 뒤집음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Hinge From Edge : </a:t>
            </a:r>
            <a:r>
              <a:rPr lang="ko-KR" altLang="en-US" b="1" dirty="0"/>
              <a:t>선택된 축을 기준으로 회전</a:t>
            </a:r>
            <a:r>
              <a:rPr lang="en-US" altLang="ko-KR" b="1" dirty="0"/>
              <a:t>, </a:t>
            </a:r>
            <a:r>
              <a:rPr lang="ko-KR" altLang="en-US" b="1" dirty="0"/>
              <a:t>돌출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Extrude Along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Spline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r>
              <a:rPr lang="ko-KR" altLang="en-US" b="1" dirty="0"/>
              <a:t>선택한 </a:t>
            </a:r>
            <a:r>
              <a:rPr lang="en-US" altLang="ko-KR" b="1" dirty="0"/>
              <a:t>Polygon</a:t>
            </a:r>
            <a:r>
              <a:rPr lang="ko-KR" altLang="en-US" b="1" dirty="0"/>
              <a:t>이 지정된 경로대로 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            Polygon</a:t>
            </a:r>
            <a:r>
              <a:rPr lang="ko-KR" altLang="en-US" b="1" dirty="0"/>
              <a:t>을 생성하며 돌출</a:t>
            </a:r>
            <a:endParaRPr lang="en-US" altLang="ko-KR" b="1" dirty="0"/>
          </a:p>
        </p:txBody>
      </p:sp>
      <p:pic>
        <p:nvPicPr>
          <p:cNvPr id="16" name="그림 15" descr="ring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621" y="5101304"/>
            <a:ext cx="1745661" cy="14162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1600" y="6165304"/>
            <a:ext cx="896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Outline</a:t>
            </a:r>
            <a:endParaRPr lang="ko-KR" altLang="en-US" sz="1600" b="1" dirty="0"/>
          </a:p>
        </p:txBody>
      </p:sp>
      <p:pic>
        <p:nvPicPr>
          <p:cNvPr id="19" name="그림 18" descr="r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34251" y="5100682"/>
            <a:ext cx="1745661" cy="14162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84587" y="6165304"/>
            <a:ext cx="2248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Extrude Along </a:t>
            </a:r>
            <a:r>
              <a:rPr lang="en-US" altLang="ko-KR" sz="1600" b="1" dirty="0" err="1"/>
              <a:t>Spline</a:t>
            </a:r>
            <a:endParaRPr lang="ko-KR" altLang="en-US" sz="16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779912" y="5013176"/>
            <a:ext cx="5456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Edit Triangulation : </a:t>
            </a:r>
            <a:r>
              <a:rPr lang="ko-KR" altLang="en-US" b="1" dirty="0"/>
              <a:t>다각형을 삼각형으로 세분화</a:t>
            </a:r>
            <a:endParaRPr lang="en-US" altLang="ko-KR" b="1" dirty="0"/>
          </a:p>
          <a:p>
            <a:pPr>
              <a:buFont typeface="Arial" pitchFamily="34" charset="0"/>
              <a:buChar char="•"/>
            </a:pPr>
            <a:r>
              <a:rPr lang="en-US" altLang="ko-KR" b="1" dirty="0"/>
              <a:t>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Retriangulate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  <a:r>
              <a:rPr lang="ko-KR" altLang="en-US" b="1" dirty="0"/>
              <a:t>최적의 삼각형 상태로 세분화</a:t>
            </a:r>
            <a:endParaRPr lang="en-US" altLang="ko-KR" b="1" dirty="0"/>
          </a:p>
          <a:p>
            <a:pPr>
              <a:buFont typeface="Arial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Turn : </a:t>
            </a:r>
            <a:r>
              <a:rPr lang="ko-KR" altLang="en-US" b="1" dirty="0"/>
              <a:t>숨겨진 </a:t>
            </a:r>
            <a:r>
              <a:rPr lang="en-US" altLang="ko-KR" b="1" dirty="0"/>
              <a:t>Edge</a:t>
            </a:r>
            <a:r>
              <a:rPr lang="ko-KR" altLang="en-US" b="1" dirty="0"/>
              <a:t>를 회전시켜 수정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5"/>
          <p:cNvGrpSpPr/>
          <p:nvPr/>
        </p:nvGrpSpPr>
        <p:grpSpPr>
          <a:xfrm>
            <a:off x="0" y="188640"/>
            <a:ext cx="8536308" cy="936104"/>
            <a:chOff x="0" y="188640"/>
            <a:chExt cx="8536308" cy="936104"/>
          </a:xfrm>
        </p:grpSpPr>
        <p:sp>
          <p:nvSpPr>
            <p:cNvPr id="11" name="자유형 10"/>
            <p:cNvSpPr/>
            <p:nvPr/>
          </p:nvSpPr>
          <p:spPr>
            <a:xfrm>
              <a:off x="0" y="188640"/>
              <a:ext cx="6228184" cy="936104"/>
            </a:xfrm>
            <a:custGeom>
              <a:avLst/>
              <a:gdLst>
                <a:gd name="connsiteX0" fmla="*/ 0 w 6696744"/>
                <a:gd name="connsiteY0" fmla="*/ 1656184 h 1656184"/>
                <a:gd name="connsiteX1" fmla="*/ 414046 w 6696744"/>
                <a:gd name="connsiteY1" fmla="*/ 0 h 1656184"/>
                <a:gd name="connsiteX2" fmla="*/ 6696744 w 6696744"/>
                <a:gd name="connsiteY2" fmla="*/ 0 h 1656184"/>
                <a:gd name="connsiteX3" fmla="*/ 6282698 w 6696744"/>
                <a:gd name="connsiteY3" fmla="*/ 1656184 h 1656184"/>
                <a:gd name="connsiteX4" fmla="*/ 0 w 6696744"/>
                <a:gd name="connsiteY4" fmla="*/ 1656184 h 1656184"/>
                <a:gd name="connsiteX0" fmla="*/ 54514 w 6282698"/>
                <a:gd name="connsiteY0" fmla="*/ 1656184 h 1656184"/>
                <a:gd name="connsiteX1" fmla="*/ 0 w 6282698"/>
                <a:gd name="connsiteY1" fmla="*/ 0 h 1656184"/>
                <a:gd name="connsiteX2" fmla="*/ 6282698 w 6282698"/>
                <a:gd name="connsiteY2" fmla="*/ 0 h 1656184"/>
                <a:gd name="connsiteX3" fmla="*/ 5868652 w 6282698"/>
                <a:gd name="connsiteY3" fmla="*/ 1656184 h 1656184"/>
                <a:gd name="connsiteX4" fmla="*/ 54514 w 6282698"/>
                <a:gd name="connsiteY4" fmla="*/ 1656184 h 1656184"/>
                <a:gd name="connsiteX0" fmla="*/ 0 w 6228184"/>
                <a:gd name="connsiteY0" fmla="*/ 1656184 h 1656184"/>
                <a:gd name="connsiteX1" fmla="*/ 0 w 6228184"/>
                <a:gd name="connsiteY1" fmla="*/ 0 h 1656184"/>
                <a:gd name="connsiteX2" fmla="*/ 6228184 w 6228184"/>
                <a:gd name="connsiteY2" fmla="*/ 0 h 1656184"/>
                <a:gd name="connsiteX3" fmla="*/ 5814138 w 6228184"/>
                <a:gd name="connsiteY3" fmla="*/ 1656184 h 1656184"/>
                <a:gd name="connsiteX4" fmla="*/ 0 w 6228184"/>
                <a:gd name="connsiteY4" fmla="*/ 1656184 h 165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8184" h="1656184">
                  <a:moveTo>
                    <a:pt x="0" y="1656184"/>
                  </a:moveTo>
                  <a:lnTo>
                    <a:pt x="0" y="0"/>
                  </a:lnTo>
                  <a:lnTo>
                    <a:pt x="6228184" y="0"/>
                  </a:lnTo>
                  <a:lnTo>
                    <a:pt x="5814138" y="1656184"/>
                  </a:lnTo>
                  <a:lnTo>
                    <a:pt x="0" y="1656184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    Editable Poly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24128" y="293747"/>
              <a:ext cx="281218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-Polygon</a:t>
              </a:r>
              <a:endPara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907704" y="1196752"/>
            <a:ext cx="7239482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Meterial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IDs :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선택된 면에 재질번호를 부여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accent1"/>
              </a:buClr>
            </a:pPr>
            <a:endParaRPr lang="en-US" altLang="ko-KR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Set ID : </a:t>
            </a:r>
            <a:r>
              <a:rPr lang="ko-KR" altLang="en-US" b="1" dirty="0"/>
              <a:t>선택된 면이 갖는 재질번호를 부여하여 재질 편집기에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</a:t>
            </a:r>
            <a:r>
              <a:rPr lang="ko-KR" altLang="en-US" b="1" dirty="0"/>
              <a:t>다중 재질이나 </a:t>
            </a:r>
            <a:r>
              <a:rPr lang="en-US" altLang="ko-KR" b="1" dirty="0"/>
              <a:t>effect </a:t>
            </a:r>
            <a:r>
              <a:rPr lang="ko-KR" altLang="en-US" b="1" dirty="0"/>
              <a:t>효과 적용 시 면에 지정한 </a:t>
            </a:r>
            <a:r>
              <a:rPr lang="en-US" altLang="ko-KR" b="1" dirty="0"/>
              <a:t>ID </a:t>
            </a:r>
            <a:r>
              <a:rPr lang="ko-KR" altLang="en-US" b="1" dirty="0"/>
              <a:t>번호에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</a:t>
            </a:r>
            <a:r>
              <a:rPr lang="ko-KR" altLang="en-US" b="1" dirty="0"/>
              <a:t>따른 재질을 정함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Select ID : ID </a:t>
            </a:r>
            <a:r>
              <a:rPr lang="ko-KR" altLang="en-US" b="1" dirty="0"/>
              <a:t>번호를 이용하여 해당되는 면을 선택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endParaRPr lang="en-US" altLang="ko-KR" b="1" dirty="0"/>
          </a:p>
          <a:p>
            <a:pPr>
              <a:buClr>
                <a:schemeClr val="accent1"/>
              </a:buClr>
              <a:buFont typeface="Arial" pitchFamily="34" charset="0"/>
              <a:buChar char="•"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Smoothing Groups :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부드럽게 보이도록 함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endParaRPr lang="en-US" altLang="ko-KR" sz="1000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Select By SG : Smoothing Group</a:t>
            </a:r>
            <a:r>
              <a:rPr lang="ko-KR" altLang="en-US" b="1" dirty="0"/>
              <a:t>으로 지정된 면을 번호를 이용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</a:t>
            </a:r>
            <a:r>
              <a:rPr lang="ko-KR" altLang="en-US" b="1" dirty="0"/>
              <a:t>하여 선택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Clear All : </a:t>
            </a:r>
            <a:r>
              <a:rPr lang="ko-KR" altLang="en-US" b="1" dirty="0"/>
              <a:t>선택한</a:t>
            </a:r>
            <a:r>
              <a:rPr lang="en-US" altLang="ko-KR" b="1" dirty="0"/>
              <a:t> </a:t>
            </a:r>
            <a:r>
              <a:rPr lang="ko-KR" altLang="en-US" b="1" dirty="0"/>
              <a:t>면에 </a:t>
            </a:r>
            <a:r>
              <a:rPr lang="en-US" altLang="ko-KR" b="1" dirty="0"/>
              <a:t>Smoothing Group</a:t>
            </a:r>
            <a:r>
              <a:rPr lang="ko-KR" altLang="en-US" b="1" dirty="0"/>
              <a:t>을</a:t>
            </a:r>
            <a:r>
              <a:rPr lang="en-US" altLang="ko-KR" b="1" dirty="0"/>
              <a:t> </a:t>
            </a:r>
            <a:r>
              <a:rPr lang="ko-KR" altLang="en-US" b="1" dirty="0"/>
              <a:t>해제</a:t>
            </a:r>
            <a:endParaRPr lang="en-US" altLang="ko-KR" b="1" dirty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altLang="ko-KR" b="1" dirty="0"/>
              <a:t> Auto Smooth : </a:t>
            </a:r>
            <a:r>
              <a:rPr lang="ko-KR" altLang="en-US" b="1" dirty="0"/>
              <a:t>다각형 사이의 각도에 따라 </a:t>
            </a:r>
            <a:r>
              <a:rPr lang="en-US" altLang="ko-KR" b="1" dirty="0"/>
              <a:t>Smoothing Group</a:t>
            </a:r>
            <a:r>
              <a:rPr lang="ko-KR" altLang="en-US" b="1" dirty="0"/>
              <a:t>을</a:t>
            </a:r>
            <a:endParaRPr lang="en-US" altLang="ko-KR" b="1" dirty="0"/>
          </a:p>
          <a:p>
            <a:pPr>
              <a:buClr>
                <a:schemeClr val="tx1"/>
              </a:buClr>
            </a:pPr>
            <a:r>
              <a:rPr lang="en-US" altLang="ko-KR" b="1" dirty="0"/>
              <a:t>                      </a:t>
            </a:r>
            <a:r>
              <a:rPr lang="ko-KR" altLang="en-US" b="1" dirty="0"/>
              <a:t>설정</a:t>
            </a:r>
            <a:endParaRPr lang="en-US" altLang="ko-KR" b="1" dirty="0"/>
          </a:p>
        </p:txBody>
      </p:sp>
      <p:pic>
        <p:nvPicPr>
          <p:cNvPr id="16" name="그림 15" descr="r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621" y="4252084"/>
            <a:ext cx="1745661" cy="14162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597" y="5316084"/>
            <a:ext cx="1934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Smoothing Group</a:t>
            </a:r>
            <a:endParaRPr lang="ko-KR" altLang="en-US" sz="1600" b="1" dirty="0"/>
          </a:p>
        </p:txBody>
      </p:sp>
      <p:pic>
        <p:nvPicPr>
          <p:cNvPr id="22" name="그림 21" descr="Poly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230015"/>
            <a:ext cx="1601923" cy="2808312"/>
          </a:xfrm>
          <a:prstGeom prst="rect">
            <a:avLst/>
          </a:prstGeom>
          <a:ln w="38100">
            <a:solidFill>
              <a:srgbClr val="E1098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0" y="6550223"/>
            <a:ext cx="6764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출처 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전현철 「</a:t>
            </a:r>
            <a:r>
              <a:rPr lang="ko-KR" altLang="en-US" sz="1400" b="1" dirty="0" err="1"/>
              <a:t>따라하기</a:t>
            </a:r>
            <a:r>
              <a:rPr lang="ko-KR" altLang="en-US" sz="1400" b="1" dirty="0"/>
              <a:t> 쉬운 </a:t>
            </a:r>
            <a:r>
              <a:rPr lang="en-US" altLang="ko-KR" sz="1400" b="1" dirty="0"/>
              <a:t>3ds Max for Beginner</a:t>
            </a:r>
            <a:r>
              <a:rPr lang="ko-KR" altLang="en-US" sz="1400" b="1" dirty="0"/>
              <a:t>」 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일진사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2011) P.95~113</a:t>
            </a:r>
            <a:endParaRPr lang="ko-KR" altLang="en-US" sz="1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그림 13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68560" y="1124744"/>
            <a:ext cx="7049682" cy="5287262"/>
          </a:xfrm>
          <a:prstGeom prst="rect">
            <a:avLst/>
          </a:prstGeom>
        </p:spPr>
      </p:pic>
      <p:pic>
        <p:nvPicPr>
          <p:cNvPr id="9" name="그림 8" descr="monitor_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896372"/>
            <a:ext cx="3462535" cy="28092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4" y="1165071"/>
            <a:ext cx="7474629" cy="5648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20072" y="2852936"/>
            <a:ext cx="3568669" cy="830997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en-US" altLang="ko-KR" sz="2400" b="1" dirty="0"/>
              <a:t>BOX</a:t>
            </a:r>
            <a:r>
              <a:rPr lang="ko-KR" altLang="en-US" sz="2400" b="1" dirty="0"/>
              <a:t>를 모델링 한 후에</a:t>
            </a:r>
            <a:endParaRPr lang="en-US" altLang="ko-KR" sz="2400" b="1" dirty="0"/>
          </a:p>
          <a:p>
            <a:r>
              <a:rPr lang="en-US" altLang="ko-KR" sz="2400" b="1" dirty="0"/>
              <a:t>Editable Poly</a:t>
            </a:r>
            <a:endParaRPr lang="ko-KR" altLang="en-US" sz="24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4" y="1165071"/>
            <a:ext cx="7474629" cy="5648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2040" y="1268760"/>
            <a:ext cx="4077911" cy="193899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2. Poly</a:t>
            </a:r>
            <a:r>
              <a:rPr lang="ko-KR" altLang="en-US" sz="2400" b="1" dirty="0"/>
              <a:t>선택 후 </a:t>
            </a:r>
            <a:r>
              <a:rPr lang="en-US" altLang="ko-KR" sz="2400" b="1" dirty="0"/>
              <a:t>front</a:t>
            </a:r>
            <a:r>
              <a:rPr lang="ko-KR" altLang="en-US" sz="2400" b="1" dirty="0" err="1"/>
              <a:t>뷰에서</a:t>
            </a:r>
            <a:r>
              <a:rPr lang="ko-KR" altLang="en-US" sz="2400" b="1" dirty="0"/>
              <a:t> </a:t>
            </a:r>
            <a:endParaRPr lang="en-US" altLang="ko-KR" sz="2400" b="1" dirty="0"/>
          </a:p>
          <a:p>
            <a:r>
              <a:rPr lang="ko-KR" altLang="en-US" sz="2400" b="1" dirty="0"/>
              <a:t>보이는 면을 선택</a:t>
            </a:r>
            <a:endParaRPr lang="en-US" altLang="ko-KR" sz="2400" b="1" dirty="0"/>
          </a:p>
          <a:p>
            <a:endParaRPr lang="en-US" altLang="ko-KR" sz="2400" b="1" dirty="0"/>
          </a:p>
          <a:p>
            <a:r>
              <a:rPr lang="en-US" altLang="ko-KR" sz="2400" b="1" dirty="0"/>
              <a:t>3. </a:t>
            </a:r>
            <a:r>
              <a:rPr lang="ko-KR" altLang="en-US" sz="2400" b="1" dirty="0"/>
              <a:t>스크린을 표현할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적당한 </a:t>
            </a:r>
            <a:endParaRPr lang="en-US" altLang="ko-KR" sz="2400" b="1" dirty="0"/>
          </a:p>
          <a:p>
            <a:r>
              <a:rPr lang="ko-KR" altLang="en-US" sz="2400" b="1" dirty="0"/>
              <a:t>크기로 </a:t>
            </a:r>
            <a:r>
              <a:rPr lang="en-US" altLang="ko-KR" sz="2400" b="1" dirty="0"/>
              <a:t>Inset</a:t>
            </a:r>
            <a:endParaRPr lang="ko-KR" altLang="en-US" sz="24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5" y="1165071"/>
            <a:ext cx="7474627" cy="5648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4048" y="1268760"/>
            <a:ext cx="4014112" cy="830997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4. Bevel</a:t>
            </a:r>
            <a:r>
              <a:rPr lang="ko-KR" altLang="en-US" sz="2400" b="1" dirty="0"/>
              <a:t>로 모니터의 스크린</a:t>
            </a:r>
            <a:endParaRPr lang="en-US" altLang="ko-KR" sz="2400" b="1" dirty="0"/>
          </a:p>
          <a:p>
            <a:r>
              <a:rPr lang="ko-KR" altLang="en-US" sz="2400" b="1" dirty="0"/>
              <a:t>부분을 몰입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5" y="1165071"/>
            <a:ext cx="7474627" cy="5648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60032" y="1453426"/>
            <a:ext cx="4176015" cy="2677656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/>
              <a:t>5. Back</a:t>
            </a:r>
            <a:r>
              <a:rPr lang="ko-KR" altLang="en-US" sz="2400" b="1" dirty="0" err="1"/>
              <a:t>뷰에서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2</a:t>
            </a:r>
            <a:r>
              <a:rPr lang="ko-KR" altLang="en-US" sz="2400" b="1" dirty="0"/>
              <a:t>차례의 </a:t>
            </a:r>
            <a:endParaRPr lang="en-US" altLang="ko-KR" sz="2400" b="1" dirty="0"/>
          </a:p>
          <a:p>
            <a:r>
              <a:rPr lang="en-US" altLang="ko-KR" sz="2400" b="1" dirty="0"/>
              <a:t>Bevel(</a:t>
            </a:r>
            <a:r>
              <a:rPr lang="ko-KR" altLang="en-US" sz="2400" b="1" dirty="0"/>
              <a:t>돌출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을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하여 모니터의</a:t>
            </a:r>
            <a:endParaRPr lang="en-US" altLang="ko-KR" sz="2400" b="1" dirty="0"/>
          </a:p>
          <a:p>
            <a:r>
              <a:rPr lang="ko-KR" altLang="en-US" sz="2400" b="1" dirty="0"/>
              <a:t>뒷부분을 모델링 </a:t>
            </a:r>
            <a:endParaRPr lang="en-US" altLang="ko-KR" sz="2400" b="1" dirty="0"/>
          </a:p>
          <a:p>
            <a:endParaRPr lang="en-US" altLang="ko-KR" sz="2400" b="1" dirty="0"/>
          </a:p>
          <a:p>
            <a:r>
              <a:rPr lang="en-US" altLang="ko-KR" sz="2400" b="1" dirty="0"/>
              <a:t>Left</a:t>
            </a:r>
            <a:r>
              <a:rPr lang="ko-KR" altLang="en-US" sz="2400" b="1" dirty="0" err="1"/>
              <a:t>뷰에서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보이는것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처럼</a:t>
            </a:r>
            <a:r>
              <a:rPr lang="ko-KR" altLang="en-US" sz="2400" b="1" dirty="0"/>
              <a:t> </a:t>
            </a:r>
            <a:endParaRPr lang="en-US" altLang="ko-KR" sz="2400" b="1" dirty="0"/>
          </a:p>
          <a:p>
            <a:r>
              <a:rPr lang="en-US" altLang="ko-KR" sz="2400" b="1" dirty="0"/>
              <a:t>Vertex</a:t>
            </a:r>
            <a:r>
              <a:rPr lang="ko-KR" altLang="en-US" sz="2400" b="1" dirty="0"/>
              <a:t>나 </a:t>
            </a:r>
            <a:r>
              <a:rPr lang="en-US" altLang="ko-KR" sz="2400" b="1" dirty="0"/>
              <a:t>Edge, Polygon</a:t>
            </a:r>
            <a:r>
              <a:rPr lang="ko-KR" altLang="en-US" sz="2400" b="1" dirty="0"/>
              <a:t>을 </a:t>
            </a:r>
            <a:endParaRPr lang="en-US" altLang="ko-KR" sz="2400" b="1" dirty="0"/>
          </a:p>
          <a:p>
            <a:r>
              <a:rPr lang="ko-KR" altLang="en-US" sz="2400" b="1" dirty="0"/>
              <a:t>이동시킴</a:t>
            </a:r>
            <a:endParaRPr lang="en-US" altLang="ko-KR" sz="24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5" y="1165071"/>
            <a:ext cx="7474626" cy="5648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1822758"/>
            <a:ext cx="4464047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/>
              <a:t>6. Edge</a:t>
            </a:r>
            <a:r>
              <a:rPr lang="ko-KR" altLang="en-US" sz="2400" b="1" dirty="0"/>
              <a:t>선택 후 </a:t>
            </a:r>
            <a:r>
              <a:rPr lang="en-US" altLang="ko-KR" sz="2400" b="1" dirty="0"/>
              <a:t>Front</a:t>
            </a:r>
            <a:r>
              <a:rPr lang="ko-KR" altLang="en-US" sz="2400" b="1" dirty="0" err="1"/>
              <a:t>뷰에서</a:t>
            </a:r>
            <a:r>
              <a:rPr lang="ko-KR" altLang="en-US" sz="2400" b="1" dirty="0"/>
              <a:t> 보이는 가로</a:t>
            </a:r>
            <a:r>
              <a:rPr lang="en-US" altLang="ko-KR" sz="2400" b="1" dirty="0"/>
              <a:t> Edge</a:t>
            </a:r>
            <a:r>
              <a:rPr lang="ko-KR" altLang="en-US" sz="2400" b="1" dirty="0"/>
              <a:t>를 드래그</a:t>
            </a:r>
            <a:endParaRPr lang="en-US" altLang="ko-KR" sz="2400" b="1" dirty="0"/>
          </a:p>
          <a:p>
            <a:r>
              <a:rPr lang="ko-KR" altLang="en-US" sz="2400" b="1" dirty="0"/>
              <a:t>하여 모두 선택 후 </a:t>
            </a:r>
            <a:r>
              <a:rPr lang="en-US" altLang="ko-KR" sz="2400" b="1" dirty="0" err="1"/>
              <a:t>Connet</a:t>
            </a:r>
            <a:r>
              <a:rPr lang="ko-KR" altLang="en-US" sz="2400" b="1" dirty="0"/>
              <a:t>하여</a:t>
            </a:r>
            <a:endParaRPr lang="en-US" altLang="ko-KR" sz="2400" b="1" dirty="0"/>
          </a:p>
          <a:p>
            <a:r>
              <a:rPr lang="ko-KR" altLang="en-US" sz="2400" b="1" dirty="0"/>
              <a:t>그림과 같이 새로운 </a:t>
            </a:r>
            <a:r>
              <a:rPr lang="en-US" altLang="ko-KR" sz="2400" b="1" dirty="0"/>
              <a:t>Edge</a:t>
            </a:r>
            <a:r>
              <a:rPr lang="ko-KR" altLang="en-US" sz="2400" b="1" dirty="0"/>
              <a:t>생성</a:t>
            </a:r>
            <a:endParaRPr lang="en-US" altLang="ko-KR" sz="2400" b="1" dirty="0"/>
          </a:p>
          <a:p>
            <a:endParaRPr lang="en-US" altLang="ko-KR" sz="24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5" y="1165071"/>
            <a:ext cx="7474626" cy="5648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20072" y="2192089"/>
            <a:ext cx="3815975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/>
              <a:t>7. </a:t>
            </a:r>
            <a:r>
              <a:rPr lang="ko-KR" altLang="en-US" sz="2400" b="1" dirty="0"/>
              <a:t>새로 생성된 </a:t>
            </a:r>
            <a:r>
              <a:rPr lang="en-US" altLang="ko-KR" sz="2400" b="1" dirty="0"/>
              <a:t>Edge</a:t>
            </a:r>
            <a:r>
              <a:rPr lang="ko-KR" altLang="en-US" sz="2400" b="1" dirty="0"/>
              <a:t>를 </a:t>
            </a:r>
            <a:endParaRPr lang="en-US" altLang="ko-KR" sz="2400" b="1" dirty="0"/>
          </a:p>
          <a:p>
            <a:r>
              <a:rPr lang="en-US" altLang="ko-KR" sz="2400" b="1" dirty="0"/>
              <a:t>Chamfer</a:t>
            </a:r>
            <a:r>
              <a:rPr lang="ko-KR" altLang="en-US" sz="2400" b="1" dirty="0"/>
              <a:t>하여 그림과 같이 </a:t>
            </a:r>
            <a:endParaRPr lang="en-US" altLang="ko-KR" sz="2400" b="1" dirty="0"/>
          </a:p>
          <a:p>
            <a:r>
              <a:rPr lang="ko-KR" altLang="en-US" sz="2400" b="1" dirty="0"/>
              <a:t>나눔</a:t>
            </a:r>
            <a:endParaRPr lang="en-US" altLang="ko-KR" sz="24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5" y="1165071"/>
            <a:ext cx="7474625" cy="5648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2040" y="2192089"/>
            <a:ext cx="4104007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/>
              <a:t>8. </a:t>
            </a:r>
            <a:r>
              <a:rPr lang="ko-KR" altLang="en-US" sz="2400" b="1" dirty="0"/>
              <a:t>다시 </a:t>
            </a:r>
            <a:r>
              <a:rPr lang="en-US" altLang="ko-KR" sz="2400" b="1" dirty="0" err="1"/>
              <a:t>Polycon</a:t>
            </a:r>
            <a:r>
              <a:rPr lang="ko-KR" altLang="en-US" sz="2400" b="1" dirty="0"/>
              <a:t>을 선택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후</a:t>
            </a:r>
            <a:endParaRPr lang="en-US" altLang="ko-KR" sz="2400" b="1" dirty="0"/>
          </a:p>
          <a:p>
            <a:r>
              <a:rPr lang="ko-KR" altLang="en-US" sz="2400" b="1" dirty="0"/>
              <a:t>그림과 같이 면을 선택하여</a:t>
            </a:r>
            <a:endParaRPr lang="en-US" altLang="ko-KR" sz="2400" b="1" dirty="0"/>
          </a:p>
          <a:p>
            <a:r>
              <a:rPr lang="en-US" altLang="ko-KR" sz="2400" b="1" dirty="0"/>
              <a:t>Extrude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5" y="1165071"/>
            <a:ext cx="7474625" cy="5648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60032" y="2376755"/>
            <a:ext cx="4176015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/>
              <a:t>9. </a:t>
            </a:r>
            <a:r>
              <a:rPr lang="ko-KR" altLang="en-US" sz="2400" b="1" dirty="0"/>
              <a:t>면을 </a:t>
            </a:r>
            <a:r>
              <a:rPr lang="en-US" altLang="ko-KR" sz="2400" b="1" dirty="0"/>
              <a:t>Bevel </a:t>
            </a:r>
            <a:r>
              <a:rPr lang="ko-KR" altLang="en-US" sz="2400" b="1" dirty="0"/>
              <a:t>하여 그림과 </a:t>
            </a:r>
            <a:endParaRPr lang="en-US" altLang="ko-KR" sz="2400" b="1" dirty="0"/>
          </a:p>
          <a:p>
            <a:r>
              <a:rPr lang="ko-KR" altLang="en-US" sz="2400" b="1" dirty="0"/>
              <a:t>같이 </a:t>
            </a:r>
            <a:r>
              <a:rPr lang="ko-KR" altLang="en-US" sz="2400" b="1" dirty="0" err="1"/>
              <a:t>만듬</a:t>
            </a:r>
            <a:endParaRPr lang="en-US" altLang="ko-KR" sz="24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5" y="1165071"/>
            <a:ext cx="7474625" cy="5648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44008" y="2376755"/>
            <a:ext cx="4392039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/>
              <a:t>10. </a:t>
            </a:r>
            <a:r>
              <a:rPr lang="ko-KR" altLang="en-US" sz="2400" b="1" dirty="0"/>
              <a:t>마지막으로 </a:t>
            </a:r>
            <a:r>
              <a:rPr lang="en-US" altLang="ko-KR" sz="2400" b="1" dirty="0"/>
              <a:t>Extrude</a:t>
            </a:r>
            <a:r>
              <a:rPr lang="ko-KR" altLang="en-US" sz="2400" b="1" dirty="0"/>
              <a:t>하여</a:t>
            </a:r>
            <a:endParaRPr lang="en-US" altLang="ko-KR" sz="2400" b="1" dirty="0"/>
          </a:p>
          <a:p>
            <a:r>
              <a:rPr lang="ko-KR" altLang="en-US" sz="2400" b="1" dirty="0"/>
              <a:t>모니터의 받침대를 모델링</a:t>
            </a:r>
            <a:endParaRPr lang="en-US" altLang="ko-KR" sz="24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6" y="1165071"/>
            <a:ext cx="7474623" cy="5648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99992" y="1822758"/>
            <a:ext cx="4536055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/>
              <a:t>11. Front</a:t>
            </a:r>
            <a:r>
              <a:rPr lang="ko-KR" altLang="en-US" sz="2400" b="1" dirty="0" err="1"/>
              <a:t>뷰에서</a:t>
            </a:r>
            <a:r>
              <a:rPr lang="ko-KR" altLang="en-US" sz="2400" b="1" dirty="0"/>
              <a:t> 스크린부분을</a:t>
            </a:r>
            <a:endParaRPr lang="en-US" altLang="ko-KR" sz="2400" b="1" dirty="0"/>
          </a:p>
          <a:p>
            <a:r>
              <a:rPr lang="ko-KR" altLang="en-US" sz="2400" b="1" dirty="0"/>
              <a:t>선택 후 그림과 같이 </a:t>
            </a:r>
            <a:r>
              <a:rPr lang="en-US" altLang="ko-KR" sz="2400" b="1" dirty="0"/>
              <a:t>Bevel</a:t>
            </a:r>
            <a:r>
              <a:rPr lang="ko-KR" altLang="en-US" sz="2400" b="1" dirty="0"/>
              <a:t>하여</a:t>
            </a:r>
            <a:endParaRPr lang="en-US" altLang="ko-KR" sz="2400" b="1" dirty="0"/>
          </a:p>
          <a:p>
            <a:r>
              <a:rPr lang="ko-KR" altLang="en-US" sz="2400" b="1" dirty="0"/>
              <a:t>입체감을 줌</a:t>
            </a:r>
            <a:endParaRPr lang="en-US" altLang="ko-KR" sz="2400" b="1" dirty="0"/>
          </a:p>
          <a:p>
            <a:endParaRPr lang="en-US" altLang="ko-KR" sz="2400" b="1" dirty="0"/>
          </a:p>
          <a:p>
            <a:r>
              <a:rPr lang="ko-KR" altLang="en-US" sz="2400" b="1" dirty="0"/>
              <a:t>스크린에 경계선이 있음</a:t>
            </a:r>
            <a:endParaRPr lang="en-US" altLang="ko-KR" sz="2400" b="1" dirty="0"/>
          </a:p>
        </p:txBody>
      </p:sp>
      <p:pic>
        <p:nvPicPr>
          <p:cNvPr id="7" name="그림 6" descr="monitor_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36096" y="3798550"/>
            <a:ext cx="3606552" cy="2926071"/>
          </a:xfrm>
          <a:prstGeom prst="rect">
            <a:avLst/>
          </a:prstGeom>
        </p:spPr>
      </p:pic>
      <p:sp>
        <p:nvSpPr>
          <p:cNvPr id="8" name="위로 구부러진 화살표 7"/>
          <p:cNvSpPr/>
          <p:nvPr/>
        </p:nvSpPr>
        <p:spPr>
          <a:xfrm>
            <a:off x="4499992" y="5445224"/>
            <a:ext cx="1512168" cy="50405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6" y="1165071"/>
            <a:ext cx="7474623" cy="5648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55976" y="2007424"/>
            <a:ext cx="4680071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/>
              <a:t>12. </a:t>
            </a:r>
            <a:r>
              <a:rPr lang="ko-KR" altLang="en-US" sz="2400" b="1" dirty="0"/>
              <a:t>다시 스크린부분에 해당하는</a:t>
            </a:r>
            <a:endParaRPr lang="en-US" altLang="ko-KR" sz="2400" b="1" dirty="0"/>
          </a:p>
          <a:p>
            <a:r>
              <a:rPr lang="ko-KR" altLang="en-US" sz="2400" b="1" dirty="0"/>
              <a:t>면을 선택 후 </a:t>
            </a:r>
            <a:r>
              <a:rPr lang="en-US" altLang="ko-KR" sz="2400" b="1" dirty="0"/>
              <a:t>Smoothing Groups</a:t>
            </a:r>
            <a:r>
              <a:rPr lang="ko-KR" altLang="en-US" sz="2400" b="1" dirty="0"/>
              <a:t>을 통해 같은 번호의 그룹을 정해줌</a:t>
            </a:r>
            <a:endParaRPr lang="en-US" altLang="ko-KR" sz="24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자유형 10"/>
          <p:cNvSpPr/>
          <p:nvPr/>
        </p:nvSpPr>
        <p:spPr>
          <a:xfrm>
            <a:off x="0" y="188640"/>
            <a:ext cx="6228184" cy="936104"/>
          </a:xfrm>
          <a:custGeom>
            <a:avLst/>
            <a:gdLst>
              <a:gd name="connsiteX0" fmla="*/ 0 w 6696744"/>
              <a:gd name="connsiteY0" fmla="*/ 1656184 h 1656184"/>
              <a:gd name="connsiteX1" fmla="*/ 414046 w 6696744"/>
              <a:gd name="connsiteY1" fmla="*/ 0 h 1656184"/>
              <a:gd name="connsiteX2" fmla="*/ 6696744 w 6696744"/>
              <a:gd name="connsiteY2" fmla="*/ 0 h 1656184"/>
              <a:gd name="connsiteX3" fmla="*/ 6282698 w 6696744"/>
              <a:gd name="connsiteY3" fmla="*/ 1656184 h 1656184"/>
              <a:gd name="connsiteX4" fmla="*/ 0 w 6696744"/>
              <a:gd name="connsiteY4" fmla="*/ 1656184 h 1656184"/>
              <a:gd name="connsiteX0" fmla="*/ 54514 w 6282698"/>
              <a:gd name="connsiteY0" fmla="*/ 1656184 h 1656184"/>
              <a:gd name="connsiteX1" fmla="*/ 0 w 6282698"/>
              <a:gd name="connsiteY1" fmla="*/ 0 h 1656184"/>
              <a:gd name="connsiteX2" fmla="*/ 6282698 w 6282698"/>
              <a:gd name="connsiteY2" fmla="*/ 0 h 1656184"/>
              <a:gd name="connsiteX3" fmla="*/ 5868652 w 6282698"/>
              <a:gd name="connsiteY3" fmla="*/ 1656184 h 1656184"/>
              <a:gd name="connsiteX4" fmla="*/ 54514 w 6282698"/>
              <a:gd name="connsiteY4" fmla="*/ 1656184 h 1656184"/>
              <a:gd name="connsiteX0" fmla="*/ 0 w 6228184"/>
              <a:gd name="connsiteY0" fmla="*/ 1656184 h 1656184"/>
              <a:gd name="connsiteX1" fmla="*/ 0 w 6228184"/>
              <a:gd name="connsiteY1" fmla="*/ 0 h 1656184"/>
              <a:gd name="connsiteX2" fmla="*/ 6228184 w 6228184"/>
              <a:gd name="connsiteY2" fmla="*/ 0 h 1656184"/>
              <a:gd name="connsiteX3" fmla="*/ 5814138 w 6228184"/>
              <a:gd name="connsiteY3" fmla="*/ 1656184 h 1656184"/>
              <a:gd name="connsiteX4" fmla="*/ 0 w 6228184"/>
              <a:gd name="connsiteY4" fmla="*/ 1656184 h 165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8184" h="1656184">
                <a:moveTo>
                  <a:pt x="0" y="1656184"/>
                </a:moveTo>
                <a:lnTo>
                  <a:pt x="0" y="0"/>
                </a:lnTo>
                <a:lnTo>
                  <a:pt x="6228184" y="0"/>
                </a:lnTo>
                <a:lnTo>
                  <a:pt x="5814138" y="1656184"/>
                </a:lnTo>
                <a:lnTo>
                  <a:pt x="0" y="1656184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실습예제</a:t>
            </a:r>
            <a:r>
              <a:rPr lang="en-US" altLang="ko-KR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-Monitor</a:t>
            </a:r>
            <a:endParaRPr lang="ko-KR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그림 4" descr="K-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06" y="1165071"/>
            <a:ext cx="7474623" cy="5648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55976" y="2561421"/>
            <a:ext cx="4680071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/>
              <a:t>12. </a:t>
            </a:r>
            <a:r>
              <a:rPr lang="ko-KR" altLang="en-US" sz="2400" b="1" dirty="0"/>
              <a:t>자연스러워진 스크린을 확인</a:t>
            </a:r>
            <a:endParaRPr lang="en-US" altLang="ko-KR" sz="2400" b="1" dirty="0"/>
          </a:p>
        </p:txBody>
      </p:sp>
      <p:pic>
        <p:nvPicPr>
          <p:cNvPr id="7" name="그림 6" descr="monitor_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36096" y="3798550"/>
            <a:ext cx="3606552" cy="2926070"/>
          </a:xfrm>
          <a:prstGeom prst="rect">
            <a:avLst/>
          </a:prstGeom>
        </p:spPr>
      </p:pic>
      <p:sp>
        <p:nvSpPr>
          <p:cNvPr id="8" name="위로 구부러진 화살표 7"/>
          <p:cNvSpPr/>
          <p:nvPr/>
        </p:nvSpPr>
        <p:spPr>
          <a:xfrm>
            <a:off x="4499992" y="5445224"/>
            <a:ext cx="1512168" cy="50405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2780</TotalTime>
  <Words>1600</Words>
  <Application>Microsoft Office PowerPoint</Application>
  <PresentationFormat>화면 슬라이드 쇼(4:3)</PresentationFormat>
  <Paragraphs>318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2013 2학기 세미나 자료</dc:title>
  <dc:creator>Microsoft Corporation</dc:creator>
  <cp:lastModifiedBy>user</cp:lastModifiedBy>
  <cp:revision>236</cp:revision>
  <dcterms:created xsi:type="dcterms:W3CDTF">2006-10-05T04:04:58Z</dcterms:created>
  <dcterms:modified xsi:type="dcterms:W3CDTF">2020-07-03T14:36:59Z</dcterms:modified>
</cp:coreProperties>
</file>